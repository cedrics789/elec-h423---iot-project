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65" r:id="rId6"/>
    <p:sldId id="267" r:id="rId7"/>
    <p:sldId id="268" r:id="rId8"/>
    <p:sldId id="266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8903" autoAdjust="0"/>
  </p:normalViewPr>
  <p:slideViewPr>
    <p:cSldViewPr snapToGrid="0">
      <p:cViewPr varScale="1">
        <p:scale>
          <a:sx n="74" d="100"/>
          <a:sy n="74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00ADC-7DEF-4386-9712-AC76DB7448F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420689E-D9C3-4891-9EF3-77150B19772B}">
      <dgm:prSet phldrT="[Texte]" phldr="0" custT="1"/>
      <dgm:spPr/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PBKDF2 [Morse, Pub. Code]</a:t>
          </a:r>
        </a:p>
      </dgm:t>
    </dgm:pt>
    <dgm:pt modelId="{7EF9EDC2-A4E3-4F41-A159-2622E8D33AA7}" type="parTrans" cxnId="{F164831A-FCF3-4F7D-B032-E81F2A8C21F5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844626B-F3A6-4422-9AA3-B70CC4B793DD}" type="sibTrans" cxnId="{F164831A-FCF3-4F7D-B032-E81F2A8C21F5}">
      <dgm:prSet custT="1"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ADC53070-0462-4D4E-B5F4-25066B89E517}">
      <dgm:prSet phldrT="[Texte]" phldr="0" custT="1"/>
      <dgm:spPr>
        <a:solidFill>
          <a:schemeClr val="bg2">
            <a:lumMod val="75000"/>
          </a:schemeClr>
        </a:solidFill>
      </dgm:spPr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Key User</a:t>
          </a:r>
        </a:p>
      </dgm:t>
    </dgm:pt>
    <dgm:pt modelId="{EDB8A2D6-3323-427D-A245-368EC38BA011}" type="parTrans" cxnId="{E2DD5CF4-61F8-4400-8992-BED6E258A5BC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5AB9B725-D337-4E05-9F0D-07B536AEC986}" type="sibTrans" cxnId="{E2DD5CF4-61F8-4400-8992-BED6E258A5BC}">
      <dgm:prSet custT="1"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DBE658EF-1CC7-4D39-9EB3-F1148FDF9289}">
      <dgm:prSet phldrT="[Texte]" phldr="0" custT="1"/>
      <dgm:spPr/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AES[Key Shared, Key user]</a:t>
          </a:r>
        </a:p>
      </dgm:t>
    </dgm:pt>
    <dgm:pt modelId="{C521A845-A2A6-4273-8E05-551AF39DCA5D}" type="par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912C80B-8408-4374-91E7-4193D0FF8016}" type="sib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B4D39FF5-DE11-4651-9E15-19C3B7AA385F}" type="pres">
      <dgm:prSet presAssocID="{E5400ADC-7DEF-4386-9712-AC76DB7448FE}" presName="outerComposite" presStyleCnt="0">
        <dgm:presLayoutVars>
          <dgm:chMax val="5"/>
          <dgm:dir/>
          <dgm:resizeHandles val="exact"/>
        </dgm:presLayoutVars>
      </dgm:prSet>
      <dgm:spPr/>
    </dgm:pt>
    <dgm:pt modelId="{7E3AEEE7-3601-4085-86E2-F53937FE84FA}" type="pres">
      <dgm:prSet presAssocID="{E5400ADC-7DEF-4386-9712-AC76DB7448FE}" presName="dummyMaxCanvas" presStyleCnt="0">
        <dgm:presLayoutVars/>
      </dgm:prSet>
      <dgm:spPr/>
    </dgm:pt>
    <dgm:pt modelId="{7624D77B-2EE6-4BFF-8352-C7BA36E2C6F9}" type="pres">
      <dgm:prSet presAssocID="{E5400ADC-7DEF-4386-9712-AC76DB7448FE}" presName="ThreeNodes_1" presStyleLbl="node1" presStyleIdx="0" presStyleCnt="3" custLinFactNeighborX="1098" custLinFactNeighborY="-997">
        <dgm:presLayoutVars>
          <dgm:bulletEnabled val="1"/>
        </dgm:presLayoutVars>
      </dgm:prSet>
      <dgm:spPr/>
    </dgm:pt>
    <dgm:pt modelId="{12622EC1-1261-460F-983E-E1325C452611}" type="pres">
      <dgm:prSet presAssocID="{E5400ADC-7DEF-4386-9712-AC76DB7448FE}" presName="ThreeNodes_2" presStyleLbl="node1" presStyleIdx="1" presStyleCnt="3">
        <dgm:presLayoutVars>
          <dgm:bulletEnabled val="1"/>
        </dgm:presLayoutVars>
      </dgm:prSet>
      <dgm:spPr/>
    </dgm:pt>
    <dgm:pt modelId="{E31F873F-29E8-4E19-A01E-5A3E10B4599B}" type="pres">
      <dgm:prSet presAssocID="{E5400ADC-7DEF-4386-9712-AC76DB7448FE}" presName="ThreeNodes_3" presStyleLbl="node1" presStyleIdx="2" presStyleCnt="3">
        <dgm:presLayoutVars>
          <dgm:bulletEnabled val="1"/>
        </dgm:presLayoutVars>
      </dgm:prSet>
      <dgm:spPr/>
    </dgm:pt>
    <dgm:pt modelId="{8905544A-A06F-42C9-B1CE-DFA6EFDC6D37}" type="pres">
      <dgm:prSet presAssocID="{E5400ADC-7DEF-4386-9712-AC76DB7448FE}" presName="ThreeConn_1-2" presStyleLbl="fgAccFollowNode1" presStyleIdx="0" presStyleCnt="2">
        <dgm:presLayoutVars>
          <dgm:bulletEnabled val="1"/>
        </dgm:presLayoutVars>
      </dgm:prSet>
      <dgm:spPr/>
    </dgm:pt>
    <dgm:pt modelId="{C099FC2B-B211-412A-967B-E7BBA69B720D}" type="pres">
      <dgm:prSet presAssocID="{E5400ADC-7DEF-4386-9712-AC76DB7448FE}" presName="ThreeConn_2-3" presStyleLbl="fgAccFollowNode1" presStyleIdx="1" presStyleCnt="2">
        <dgm:presLayoutVars>
          <dgm:bulletEnabled val="1"/>
        </dgm:presLayoutVars>
      </dgm:prSet>
      <dgm:spPr/>
    </dgm:pt>
    <dgm:pt modelId="{178144C9-6752-4678-AB8E-7D84882DCCF7}" type="pres">
      <dgm:prSet presAssocID="{E5400ADC-7DEF-4386-9712-AC76DB7448FE}" presName="ThreeNodes_1_text" presStyleLbl="node1" presStyleIdx="2" presStyleCnt="3">
        <dgm:presLayoutVars>
          <dgm:bulletEnabled val="1"/>
        </dgm:presLayoutVars>
      </dgm:prSet>
      <dgm:spPr/>
    </dgm:pt>
    <dgm:pt modelId="{58404E1A-510A-4115-AB4C-9D57E85E90E4}" type="pres">
      <dgm:prSet presAssocID="{E5400ADC-7DEF-4386-9712-AC76DB7448FE}" presName="ThreeNodes_2_text" presStyleLbl="node1" presStyleIdx="2" presStyleCnt="3">
        <dgm:presLayoutVars>
          <dgm:bulletEnabled val="1"/>
        </dgm:presLayoutVars>
      </dgm:prSet>
      <dgm:spPr/>
    </dgm:pt>
    <dgm:pt modelId="{23D663AC-BE75-4301-8A09-4B1A7E62B33C}" type="pres">
      <dgm:prSet presAssocID="{E5400ADC-7DEF-4386-9712-AC76DB7448F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164831A-FCF3-4F7D-B032-E81F2A8C21F5}" srcId="{E5400ADC-7DEF-4386-9712-AC76DB7448FE}" destId="{B420689E-D9C3-4891-9EF3-77150B19772B}" srcOrd="0" destOrd="0" parTransId="{7EF9EDC2-A4E3-4F41-A159-2622E8D33AA7}" sibTransId="{E844626B-F3A6-4422-9AA3-B70CC4B793DD}"/>
    <dgm:cxn modelId="{0DCD8637-1F1E-4A59-9FFB-5A941EAA2196}" type="presOf" srcId="{B420689E-D9C3-4891-9EF3-77150B19772B}" destId="{7624D77B-2EE6-4BFF-8352-C7BA36E2C6F9}" srcOrd="0" destOrd="0" presId="urn:microsoft.com/office/officeart/2005/8/layout/vProcess5"/>
    <dgm:cxn modelId="{941F4C3F-56A6-4DBC-B03A-65B233667FDD}" srcId="{E5400ADC-7DEF-4386-9712-AC76DB7448FE}" destId="{DBE658EF-1CC7-4D39-9EB3-F1148FDF9289}" srcOrd="2" destOrd="0" parTransId="{C521A845-A2A6-4273-8E05-551AF39DCA5D}" sibTransId="{E912C80B-8408-4374-91E7-4193D0FF8016}"/>
    <dgm:cxn modelId="{F7242E67-D65D-4128-8ED2-FA4746F50D29}" type="presOf" srcId="{B420689E-D9C3-4891-9EF3-77150B19772B}" destId="{178144C9-6752-4678-AB8E-7D84882DCCF7}" srcOrd="1" destOrd="0" presId="urn:microsoft.com/office/officeart/2005/8/layout/vProcess5"/>
    <dgm:cxn modelId="{2B327B68-E348-43E1-AF1D-C01BE7696580}" type="presOf" srcId="{ADC53070-0462-4D4E-B5F4-25066B89E517}" destId="{12622EC1-1261-460F-983E-E1325C452611}" srcOrd="0" destOrd="0" presId="urn:microsoft.com/office/officeart/2005/8/layout/vProcess5"/>
    <dgm:cxn modelId="{3E2CBF74-1809-4660-B729-77A82C1C7449}" type="presOf" srcId="{E844626B-F3A6-4422-9AA3-B70CC4B793DD}" destId="{8905544A-A06F-42C9-B1CE-DFA6EFDC6D37}" srcOrd="0" destOrd="0" presId="urn:microsoft.com/office/officeart/2005/8/layout/vProcess5"/>
    <dgm:cxn modelId="{D4743276-1776-44CF-860C-F6C9FC46EBD2}" type="presOf" srcId="{5AB9B725-D337-4E05-9F0D-07B536AEC986}" destId="{C099FC2B-B211-412A-967B-E7BBA69B720D}" srcOrd="0" destOrd="0" presId="urn:microsoft.com/office/officeart/2005/8/layout/vProcess5"/>
    <dgm:cxn modelId="{367BBF94-9092-42DC-B734-A856EA608C82}" type="presOf" srcId="{E5400ADC-7DEF-4386-9712-AC76DB7448FE}" destId="{B4D39FF5-DE11-4651-9E15-19C3B7AA385F}" srcOrd="0" destOrd="0" presId="urn:microsoft.com/office/officeart/2005/8/layout/vProcess5"/>
    <dgm:cxn modelId="{29619AA7-D0D7-47DB-AD09-A46D803335D8}" type="presOf" srcId="{DBE658EF-1CC7-4D39-9EB3-F1148FDF9289}" destId="{23D663AC-BE75-4301-8A09-4B1A7E62B33C}" srcOrd="1" destOrd="0" presId="urn:microsoft.com/office/officeart/2005/8/layout/vProcess5"/>
    <dgm:cxn modelId="{950729B0-0AF3-4DF7-A1B6-3362189FAB2B}" type="presOf" srcId="{ADC53070-0462-4D4E-B5F4-25066B89E517}" destId="{58404E1A-510A-4115-AB4C-9D57E85E90E4}" srcOrd="1" destOrd="0" presId="urn:microsoft.com/office/officeart/2005/8/layout/vProcess5"/>
    <dgm:cxn modelId="{6817B5E3-0DAC-4748-9DAA-D9B21CE762B5}" type="presOf" srcId="{DBE658EF-1CC7-4D39-9EB3-F1148FDF9289}" destId="{E31F873F-29E8-4E19-A01E-5A3E10B4599B}" srcOrd="0" destOrd="0" presId="urn:microsoft.com/office/officeart/2005/8/layout/vProcess5"/>
    <dgm:cxn modelId="{E2DD5CF4-61F8-4400-8992-BED6E258A5BC}" srcId="{E5400ADC-7DEF-4386-9712-AC76DB7448FE}" destId="{ADC53070-0462-4D4E-B5F4-25066B89E517}" srcOrd="1" destOrd="0" parTransId="{EDB8A2D6-3323-427D-A245-368EC38BA011}" sibTransId="{5AB9B725-D337-4E05-9F0D-07B536AEC986}"/>
    <dgm:cxn modelId="{0E70D84D-6B75-435E-96CE-69EA0FDDE24C}" type="presParOf" srcId="{B4D39FF5-DE11-4651-9E15-19C3B7AA385F}" destId="{7E3AEEE7-3601-4085-86E2-F53937FE84FA}" srcOrd="0" destOrd="0" presId="urn:microsoft.com/office/officeart/2005/8/layout/vProcess5"/>
    <dgm:cxn modelId="{6508431E-2513-4237-BEF2-495FFBFAD91B}" type="presParOf" srcId="{B4D39FF5-DE11-4651-9E15-19C3B7AA385F}" destId="{7624D77B-2EE6-4BFF-8352-C7BA36E2C6F9}" srcOrd="1" destOrd="0" presId="urn:microsoft.com/office/officeart/2005/8/layout/vProcess5"/>
    <dgm:cxn modelId="{6C6F7660-1160-427D-BAD3-CB20EDA10CDF}" type="presParOf" srcId="{B4D39FF5-DE11-4651-9E15-19C3B7AA385F}" destId="{12622EC1-1261-460F-983E-E1325C452611}" srcOrd="2" destOrd="0" presId="urn:microsoft.com/office/officeart/2005/8/layout/vProcess5"/>
    <dgm:cxn modelId="{5842423A-7F02-4B12-98DB-977411CB9CC7}" type="presParOf" srcId="{B4D39FF5-DE11-4651-9E15-19C3B7AA385F}" destId="{E31F873F-29E8-4E19-A01E-5A3E10B4599B}" srcOrd="3" destOrd="0" presId="urn:microsoft.com/office/officeart/2005/8/layout/vProcess5"/>
    <dgm:cxn modelId="{BA34520A-F1C2-46EB-A73F-B695907CCDD1}" type="presParOf" srcId="{B4D39FF5-DE11-4651-9E15-19C3B7AA385F}" destId="{8905544A-A06F-42C9-B1CE-DFA6EFDC6D37}" srcOrd="4" destOrd="0" presId="urn:microsoft.com/office/officeart/2005/8/layout/vProcess5"/>
    <dgm:cxn modelId="{B418E4D9-B81B-4C7E-A42D-D56FC95E941C}" type="presParOf" srcId="{B4D39FF5-DE11-4651-9E15-19C3B7AA385F}" destId="{C099FC2B-B211-412A-967B-E7BBA69B720D}" srcOrd="5" destOrd="0" presId="urn:microsoft.com/office/officeart/2005/8/layout/vProcess5"/>
    <dgm:cxn modelId="{E3EE8DAF-F96D-4B46-9ED8-D876FF5BFB8D}" type="presParOf" srcId="{B4D39FF5-DE11-4651-9E15-19C3B7AA385F}" destId="{178144C9-6752-4678-AB8E-7D84882DCCF7}" srcOrd="6" destOrd="0" presId="urn:microsoft.com/office/officeart/2005/8/layout/vProcess5"/>
    <dgm:cxn modelId="{5AF50FA7-3975-400C-B760-77D1A4CF11D8}" type="presParOf" srcId="{B4D39FF5-DE11-4651-9E15-19C3B7AA385F}" destId="{58404E1A-510A-4115-AB4C-9D57E85E90E4}" srcOrd="7" destOrd="0" presId="urn:microsoft.com/office/officeart/2005/8/layout/vProcess5"/>
    <dgm:cxn modelId="{5F6F15FA-431A-4CD2-B945-AA05DB0AE501}" type="presParOf" srcId="{B4D39FF5-DE11-4651-9E15-19C3B7AA385F}" destId="{23D663AC-BE75-4301-8A09-4B1A7E62B33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400ADC-7DEF-4386-9712-AC76DB7448F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BE658EF-1CC7-4D39-9EB3-F1148FDF9289}">
      <dgm:prSet phldrT="[Texte]" phldr="0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Dec [Key user, Key enc]</a:t>
          </a:r>
        </a:p>
      </dgm:t>
    </dgm:pt>
    <dgm:pt modelId="{C521A845-A2A6-4273-8E05-551AF39DCA5D}" type="par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912C80B-8408-4374-91E7-4193D0FF8016}" type="sib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B4D39FF5-DE11-4651-9E15-19C3B7AA385F}" type="pres">
      <dgm:prSet presAssocID="{E5400ADC-7DEF-4386-9712-AC76DB7448FE}" presName="outerComposite" presStyleCnt="0">
        <dgm:presLayoutVars>
          <dgm:chMax val="5"/>
          <dgm:dir/>
          <dgm:resizeHandles val="exact"/>
        </dgm:presLayoutVars>
      </dgm:prSet>
      <dgm:spPr/>
    </dgm:pt>
    <dgm:pt modelId="{7E3AEEE7-3601-4085-86E2-F53937FE84FA}" type="pres">
      <dgm:prSet presAssocID="{E5400ADC-7DEF-4386-9712-AC76DB7448FE}" presName="dummyMaxCanvas" presStyleCnt="0">
        <dgm:presLayoutVars/>
      </dgm:prSet>
      <dgm:spPr/>
    </dgm:pt>
    <dgm:pt modelId="{F8E54BEB-3256-4E96-9D0C-EC9DACC7B964}" type="pres">
      <dgm:prSet presAssocID="{E5400ADC-7DEF-4386-9712-AC76DB7448FE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941F4C3F-56A6-4DBC-B03A-65B233667FDD}" srcId="{E5400ADC-7DEF-4386-9712-AC76DB7448FE}" destId="{DBE658EF-1CC7-4D39-9EB3-F1148FDF9289}" srcOrd="0" destOrd="0" parTransId="{C521A845-A2A6-4273-8E05-551AF39DCA5D}" sibTransId="{E912C80B-8408-4374-91E7-4193D0FF8016}"/>
    <dgm:cxn modelId="{D3B2A98D-A498-4B33-8834-D92515CC673A}" type="presOf" srcId="{DBE658EF-1CC7-4D39-9EB3-F1148FDF9289}" destId="{F8E54BEB-3256-4E96-9D0C-EC9DACC7B964}" srcOrd="0" destOrd="0" presId="urn:microsoft.com/office/officeart/2005/8/layout/vProcess5"/>
    <dgm:cxn modelId="{367BBF94-9092-42DC-B734-A856EA608C82}" type="presOf" srcId="{E5400ADC-7DEF-4386-9712-AC76DB7448FE}" destId="{B4D39FF5-DE11-4651-9E15-19C3B7AA385F}" srcOrd="0" destOrd="0" presId="urn:microsoft.com/office/officeart/2005/8/layout/vProcess5"/>
    <dgm:cxn modelId="{0E70D84D-6B75-435E-96CE-69EA0FDDE24C}" type="presParOf" srcId="{B4D39FF5-DE11-4651-9E15-19C3B7AA385F}" destId="{7E3AEEE7-3601-4085-86E2-F53937FE84FA}" srcOrd="0" destOrd="0" presId="urn:microsoft.com/office/officeart/2005/8/layout/vProcess5"/>
    <dgm:cxn modelId="{6A043F72-C946-484C-B4E4-C717B6E55496}" type="presParOf" srcId="{B4D39FF5-DE11-4651-9E15-19C3B7AA385F}" destId="{F8E54BEB-3256-4E96-9D0C-EC9DACC7B96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4D77B-2EE6-4BFF-8352-C7BA36E2C6F9}">
      <dsp:nvSpPr>
        <dsp:cNvPr id="0" name=""/>
        <dsp:cNvSpPr/>
      </dsp:nvSpPr>
      <dsp:spPr>
        <a:xfrm>
          <a:off x="39311" y="0"/>
          <a:ext cx="3580264" cy="465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PBKDF2 [Morse, Pub. Code]</a:t>
          </a:r>
        </a:p>
      </dsp:txBody>
      <dsp:txXfrm>
        <a:off x="52946" y="13635"/>
        <a:ext cx="3077920" cy="438261"/>
      </dsp:txXfrm>
    </dsp:sp>
    <dsp:sp modelId="{12622EC1-1261-460F-983E-E1325C452611}">
      <dsp:nvSpPr>
        <dsp:cNvPr id="0" name=""/>
        <dsp:cNvSpPr/>
      </dsp:nvSpPr>
      <dsp:spPr>
        <a:xfrm>
          <a:off x="315905" y="543119"/>
          <a:ext cx="3580264" cy="465531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Key User</a:t>
          </a:r>
        </a:p>
      </dsp:txBody>
      <dsp:txXfrm>
        <a:off x="329540" y="556754"/>
        <a:ext cx="2934493" cy="438261"/>
      </dsp:txXfrm>
    </dsp:sp>
    <dsp:sp modelId="{E31F873F-29E8-4E19-A01E-5A3E10B4599B}">
      <dsp:nvSpPr>
        <dsp:cNvPr id="0" name=""/>
        <dsp:cNvSpPr/>
      </dsp:nvSpPr>
      <dsp:spPr>
        <a:xfrm>
          <a:off x="631811" y="1086238"/>
          <a:ext cx="3580264" cy="465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AES[Key Shared, Key user]</a:t>
          </a:r>
        </a:p>
      </dsp:txBody>
      <dsp:txXfrm>
        <a:off x="645446" y="1099873"/>
        <a:ext cx="2934493" cy="438261"/>
      </dsp:txXfrm>
    </dsp:sp>
    <dsp:sp modelId="{8905544A-A06F-42C9-B1CE-DFA6EFDC6D37}">
      <dsp:nvSpPr>
        <dsp:cNvPr id="0" name=""/>
        <dsp:cNvSpPr/>
      </dsp:nvSpPr>
      <dsp:spPr>
        <a:xfrm>
          <a:off x="3277669" y="353027"/>
          <a:ext cx="302595" cy="302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Agency FB" panose="020B0503020202020204" pitchFamily="34" charset="0"/>
          </a:endParaRPr>
        </a:p>
      </dsp:txBody>
      <dsp:txXfrm>
        <a:off x="3345753" y="353027"/>
        <a:ext cx="166427" cy="227703"/>
      </dsp:txXfrm>
    </dsp:sp>
    <dsp:sp modelId="{C099FC2B-B211-412A-967B-E7BBA69B720D}">
      <dsp:nvSpPr>
        <dsp:cNvPr id="0" name=""/>
        <dsp:cNvSpPr/>
      </dsp:nvSpPr>
      <dsp:spPr>
        <a:xfrm>
          <a:off x="3593575" y="893043"/>
          <a:ext cx="302595" cy="302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Agency FB" panose="020B0503020202020204" pitchFamily="34" charset="0"/>
          </a:endParaRPr>
        </a:p>
      </dsp:txBody>
      <dsp:txXfrm>
        <a:off x="3661659" y="893043"/>
        <a:ext cx="166427" cy="227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54BEB-3256-4E96-9D0C-EC9DACC7B964}">
      <dsp:nvSpPr>
        <dsp:cNvPr id="0" name=""/>
        <dsp:cNvSpPr/>
      </dsp:nvSpPr>
      <dsp:spPr>
        <a:xfrm>
          <a:off x="0" y="225849"/>
          <a:ext cx="3577621" cy="451699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Dec [Key user, Key enc]</a:t>
          </a:r>
        </a:p>
      </dsp:txBody>
      <dsp:txXfrm>
        <a:off x="13230" y="239079"/>
        <a:ext cx="3551161" cy="4252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46D45-EE58-46FD-9436-74A4ED578FAF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8B244-F9EF-41A1-B953-2DFC18C2A94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31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Denials of service </a:t>
            </a:r>
            <a:r>
              <a:rPr lang="en-GB"/>
              <a:t>: Publisher </a:t>
            </a:r>
            <a:r>
              <a:rPr lang="en-GB" dirty="0"/>
              <a:t>– storage capacity modification / Subscriber – Data flooding / Network – Data flooding</a:t>
            </a:r>
            <a:br>
              <a:rPr lang="en-GB" dirty="0"/>
            </a:br>
            <a:r>
              <a:rPr lang="en-GB" dirty="0"/>
              <a:t>Elevation of Privilege : Access to the plain text data through Firmware access – Flash</a:t>
            </a:r>
            <a:br>
              <a:rPr lang="en-GB" dirty="0"/>
            </a:br>
            <a:r>
              <a:rPr lang="en-GB" dirty="0"/>
              <a:t>Tampering : ESP32 – Flash memory modification / Network – MQTT package modification</a:t>
            </a:r>
            <a:br>
              <a:rPr lang="en-GB" dirty="0"/>
            </a:br>
            <a:r>
              <a:rPr lang="en-GB" dirty="0"/>
              <a:t>Info disclosure : listening</a:t>
            </a:r>
            <a:br>
              <a:rPr lang="en-GB" dirty="0"/>
            </a:br>
            <a:r>
              <a:rPr lang="en-GB" dirty="0"/>
              <a:t>Spoofing : Faking User identity</a:t>
            </a:r>
            <a:br>
              <a:rPr lang="en-GB" dirty="0"/>
            </a:br>
            <a:r>
              <a:rPr lang="en-GB" dirty="0" err="1"/>
              <a:t>Repudation</a:t>
            </a:r>
            <a:r>
              <a:rPr lang="en-GB" dirty="0"/>
              <a:t> : Alter Log files – impossible to identify who sent data or if data has been sent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52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9C7C-0B0C-2B92-575F-89845058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91BD3F-0375-B62B-DAF2-BB3DED767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9B7D51-1D3F-0EE8-D938-41A3CC683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B22D24-D029-C6F4-7142-60223A9F8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265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24B8-EAB7-A947-260D-E669AD6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0A8AA6-B343-B106-5AF0-4D6E2997E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AAF550-35CD-9FE7-5174-C1E70DF43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259ED1-CCB8-2F5E-8CA2-91AD7B3AE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15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5DA76-40AA-846B-1AA3-C68027D2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6007B6-7DAA-A485-1ADC-97AB0812A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ACCE3B-55A7-D526-8EC9-0E24974C2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PBKDF2 – High iteration algorithm</a:t>
            </a:r>
            <a:br>
              <a:rPr lang="en-GB" dirty="0"/>
            </a:br>
            <a:r>
              <a:rPr lang="en-GB" dirty="0"/>
              <a:t>Public Code, Shared Key saved in Encrypted flash</a:t>
            </a:r>
            <a:br>
              <a:rPr lang="en-GB" dirty="0"/>
            </a:br>
            <a:r>
              <a:rPr lang="en-GB" dirty="0"/>
              <a:t>Morse code to enter by push button – Debounce code needed</a:t>
            </a:r>
            <a:br>
              <a:rPr lang="en-GB" dirty="0"/>
            </a:br>
            <a:r>
              <a:rPr lang="en-GB" dirty="0"/>
              <a:t>Hashed message for Denial of Service check (ensure no flooding by wrong devices) + </a:t>
            </a:r>
            <a:r>
              <a:rPr lang="en-GB" dirty="0" err="1"/>
              <a:t>Repudation</a:t>
            </a:r>
            <a:r>
              <a:rPr lang="en-GB" dirty="0"/>
              <a:t> control -  saved in log file</a:t>
            </a:r>
            <a:br>
              <a:rPr lang="en-GB" dirty="0"/>
            </a:br>
            <a:r>
              <a:rPr lang="en-GB" dirty="0"/>
              <a:t>Encrypt Flash + Rate limit to avoid DOS</a:t>
            </a:r>
            <a:br>
              <a:rPr lang="en-GB" dirty="0"/>
            </a:br>
            <a:r>
              <a:rPr lang="en-GB" dirty="0"/>
              <a:t>If Subscriber found too many failed hashed message verification -&gt; Quiet mode – does not listen to the broker.</a:t>
            </a:r>
            <a:br>
              <a:rPr lang="en-GB" dirty="0"/>
            </a:br>
            <a:r>
              <a:rPr lang="en-GB" dirty="0"/>
              <a:t>Port Knocking for sniffing !!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B80AD0-9B1F-B097-D89B-76F738FA1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76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EC87D-910C-90E0-C479-0B97238E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E7F96F4-2A21-F5EC-EE83-5B33D3CC7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4F3B84-B626-04C8-51C7-8A41C861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602DA7-4CDC-FEF7-62C0-F273C51E6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72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2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6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0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19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6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6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58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5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3567EE-20CD-05DC-7947-AC7D8D0BC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</a:t>
            </a:r>
            <a:r>
              <a:rPr lang="en-GB" sz="2800" dirty="0"/>
              <a:t>Project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2CD381-0315-1564-D551-A4124F7F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965984" cy="131995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GB" dirty="0"/>
              <a:t>Security Stride Threat Model and additional Feature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Group 12</a:t>
            </a:r>
          </a:p>
        </p:txBody>
      </p:sp>
      <p:pic>
        <p:nvPicPr>
          <p:cNvPr id="14" name="Picture 3" descr="Abstrait de la connexion réseau sur un arrière-plan blanc">
            <a:extLst>
              <a:ext uri="{FF2B5EF4-FFF2-40B4-BE49-F238E27FC236}">
                <a16:creationId xmlns:a16="http://schemas.microsoft.com/office/drawing/2014/main" id="{4F35FA56-4733-E1AA-1D0B-591A1A83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287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1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36C9C-BC95-6844-2439-95CCB56C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A22F6-16F1-785A-15C3-6DAE87CC7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ED50AD9-8A48-DC32-EEE3-5DD0FAECC4C0}"/>
              </a:ext>
            </a:extLst>
          </p:cNvPr>
          <p:cNvSpPr txBox="1"/>
          <p:nvPr/>
        </p:nvSpPr>
        <p:spPr>
          <a:xfrm>
            <a:off x="2118386" y="2680450"/>
            <a:ext cx="4682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Additional feature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Security diagram – Stride Threat Model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48BC0A8-3BCB-CE92-C474-2BF7FBFA738C}"/>
              </a:ext>
            </a:extLst>
          </p:cNvPr>
          <p:cNvSpPr txBox="1"/>
          <p:nvPr/>
        </p:nvSpPr>
        <p:spPr>
          <a:xfrm>
            <a:off x="2118386" y="20048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AGENDA</a:t>
            </a:r>
            <a:endParaRPr lang="en-GB" sz="2400" b="1" dirty="0"/>
          </a:p>
        </p:txBody>
      </p:sp>
      <p:pic>
        <p:nvPicPr>
          <p:cNvPr id="28" name="Image 27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602AB2F2-F43E-6253-A53A-B1A5ABB32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8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FAFE1-DF02-5497-1FDE-03E39BFE7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DA2D3-CB28-61C7-CAF9-B091A7B94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83EB8B3-BFB5-4AC8-7219-492E23DF9A14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7ECBEE90-28CC-419D-6B91-3759056F9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A298412F-3BE6-C5AF-1010-49A3ABE5653F}"/>
              </a:ext>
            </a:extLst>
          </p:cNvPr>
          <p:cNvGrpSpPr/>
          <p:nvPr/>
        </p:nvGrpSpPr>
        <p:grpSpPr>
          <a:xfrm>
            <a:off x="1258927" y="1226282"/>
            <a:ext cx="9405197" cy="3104030"/>
            <a:chOff x="1254868" y="1529657"/>
            <a:chExt cx="9405197" cy="3104030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0EAEBB50-5D12-CD4B-8BE1-D894C26589C4}"/>
                </a:ext>
              </a:extLst>
            </p:cNvPr>
            <p:cNvGrpSpPr/>
            <p:nvPr/>
          </p:nvGrpSpPr>
          <p:grpSpPr>
            <a:xfrm>
              <a:off x="1254868" y="2276272"/>
              <a:ext cx="9405197" cy="2305456"/>
              <a:chOff x="1254868" y="2276272"/>
              <a:chExt cx="9405197" cy="2305456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0C3ABBE2-98C0-8DB2-2873-40EF5C8F092D}"/>
                  </a:ext>
                </a:extLst>
              </p:cNvPr>
              <p:cNvSpPr/>
              <p:nvPr/>
            </p:nvSpPr>
            <p:spPr>
              <a:xfrm>
                <a:off x="1254868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Publisher</a:t>
                </a:r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53C2491A-D85C-8D14-E68A-F4CD6E2FAC42}"/>
                  </a:ext>
                </a:extLst>
              </p:cNvPr>
              <p:cNvSpPr/>
              <p:nvPr/>
            </p:nvSpPr>
            <p:spPr>
              <a:xfrm>
                <a:off x="9016090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Suscriber</a:t>
                </a:r>
                <a:endParaRPr lang="en-GB" dirty="0"/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D6A38D02-8CA9-A6A8-5D03-9AF979CD4C82}"/>
                  </a:ext>
                </a:extLst>
              </p:cNvPr>
              <p:cNvSpPr/>
              <p:nvPr/>
            </p:nvSpPr>
            <p:spPr>
              <a:xfrm>
                <a:off x="4742236" y="2276272"/>
                <a:ext cx="2305456" cy="230545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MQTT Broker</a:t>
                </a:r>
              </a:p>
            </p:txBody>
          </p:sp>
          <p:sp>
            <p:nvSpPr>
              <p:cNvPr id="9" name="Flèche : droite 8">
                <a:extLst>
                  <a:ext uri="{FF2B5EF4-FFF2-40B4-BE49-F238E27FC236}">
                    <a16:creationId xmlns:a16="http://schemas.microsoft.com/office/drawing/2014/main" id="{02D69900-2DF5-B696-EA62-E8479FE1041E}"/>
                  </a:ext>
                </a:extLst>
              </p:cNvPr>
              <p:cNvSpPr/>
              <p:nvPr/>
            </p:nvSpPr>
            <p:spPr>
              <a:xfrm>
                <a:off x="3032595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0418F8EB-8C7A-F867-8114-F8D3B81E9CA0}"/>
                  </a:ext>
                </a:extLst>
              </p:cNvPr>
              <p:cNvSpPr/>
              <p:nvPr/>
            </p:nvSpPr>
            <p:spPr>
              <a:xfrm>
                <a:off x="7267054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1080000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20D59480-74E6-E013-C882-1EEC38297722}"/>
                </a:ext>
              </a:extLst>
            </p:cNvPr>
            <p:cNvSpPr/>
            <p:nvPr/>
          </p:nvSpPr>
          <p:spPr>
            <a:xfrm>
              <a:off x="4698504" y="2233939"/>
              <a:ext cx="2399748" cy="2399748"/>
            </a:xfrm>
            <a:prstGeom prst="ellipse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237FD30-0A0F-775A-319F-F7FDF8E4222C}"/>
                </a:ext>
              </a:extLst>
            </p:cNvPr>
            <p:cNvSpPr txBox="1"/>
            <p:nvPr/>
          </p:nvSpPr>
          <p:spPr>
            <a:xfrm>
              <a:off x="4871485" y="1529657"/>
              <a:ext cx="19271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Trust Boundary</a:t>
              </a:r>
              <a:b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Computer</a:t>
              </a:r>
            </a:p>
          </p:txBody>
        </p:sp>
      </p:grp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38FB8346-6D83-AE41-7198-BD41EF010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64277"/>
              </p:ext>
            </p:extLst>
          </p:nvPr>
        </p:nvGraphicFramePr>
        <p:xfrm>
          <a:off x="1177262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12E4B872-B05F-28F8-5586-D077E7683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04692"/>
              </p:ext>
            </p:extLst>
          </p:nvPr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EFCA0D82-0AD1-F925-09CC-189111E15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880040"/>
              </p:ext>
            </p:extLst>
          </p:nvPr>
        </p:nvGraphicFramePr>
        <p:xfrm>
          <a:off x="4995371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44A0FF42-BE54-5C6E-5ABF-ED8FAE1CE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5220"/>
              </p:ext>
            </p:extLst>
          </p:nvPr>
        </p:nvGraphicFramePr>
        <p:xfrm>
          <a:off x="8938484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BA3F33E4-ED0A-C791-B7AB-47DD2719B775}"/>
              </a:ext>
            </a:extLst>
          </p:cNvPr>
          <p:cNvSpPr txBox="1"/>
          <p:nvPr/>
        </p:nvSpPr>
        <p:spPr>
          <a:xfrm>
            <a:off x="359924" y="18771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LVL 1 DIAGRAM FLOW</a:t>
            </a:r>
          </a:p>
        </p:txBody>
      </p:sp>
    </p:spTree>
    <p:extLst>
      <p:ext uri="{BB962C8B-B14F-4D97-AF65-F5344CB8AC3E}">
        <p14:creationId xmlns:p14="http://schemas.microsoft.com/office/powerpoint/2010/main" val="384908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774E-B9E2-792E-2CE5-C4C27A29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6A89ED-DF4E-3A60-AECF-465666404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2A535A1-CDCB-D52F-29DE-2E7CE3277F98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5298433C-8423-E6B0-F719-E18C24ECA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38D0DF88-0C49-E7C8-8BF5-D12FF983B164}"/>
              </a:ext>
            </a:extLst>
          </p:cNvPr>
          <p:cNvGrpSpPr/>
          <p:nvPr/>
        </p:nvGrpSpPr>
        <p:grpSpPr>
          <a:xfrm>
            <a:off x="1258927" y="1226282"/>
            <a:ext cx="9405197" cy="3104030"/>
            <a:chOff x="1254868" y="1529657"/>
            <a:chExt cx="9405197" cy="3104030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F60A6DE6-F883-FF27-AEB6-8A279863A74E}"/>
                </a:ext>
              </a:extLst>
            </p:cNvPr>
            <p:cNvGrpSpPr/>
            <p:nvPr/>
          </p:nvGrpSpPr>
          <p:grpSpPr>
            <a:xfrm>
              <a:off x="1254868" y="2276272"/>
              <a:ext cx="9405197" cy="2305456"/>
              <a:chOff x="1254868" y="2276272"/>
              <a:chExt cx="9405197" cy="2305456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3A669479-743D-A45F-0B3D-EEB8A3E196B8}"/>
                  </a:ext>
                </a:extLst>
              </p:cNvPr>
              <p:cNvSpPr/>
              <p:nvPr/>
            </p:nvSpPr>
            <p:spPr>
              <a:xfrm>
                <a:off x="1254868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Publisher</a:t>
                </a:r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635BA97F-3F14-4BFA-B804-9ECDF8035494}"/>
                  </a:ext>
                </a:extLst>
              </p:cNvPr>
              <p:cNvSpPr/>
              <p:nvPr/>
            </p:nvSpPr>
            <p:spPr>
              <a:xfrm>
                <a:off x="9016090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Suscriber</a:t>
                </a:r>
                <a:endParaRPr lang="en-GB" dirty="0"/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A4E41FEC-40F0-5ECD-D8AF-CC6AA5739D54}"/>
                  </a:ext>
                </a:extLst>
              </p:cNvPr>
              <p:cNvSpPr/>
              <p:nvPr/>
            </p:nvSpPr>
            <p:spPr>
              <a:xfrm>
                <a:off x="4742236" y="2276272"/>
                <a:ext cx="2305456" cy="230545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MQTT Broker</a:t>
                </a:r>
              </a:p>
            </p:txBody>
          </p:sp>
          <p:sp>
            <p:nvSpPr>
              <p:cNvPr id="9" name="Flèche : droite 8">
                <a:extLst>
                  <a:ext uri="{FF2B5EF4-FFF2-40B4-BE49-F238E27FC236}">
                    <a16:creationId xmlns:a16="http://schemas.microsoft.com/office/drawing/2014/main" id="{B6C7A3B5-C3FB-7723-FF71-DC48D5FEF4C2}"/>
                  </a:ext>
                </a:extLst>
              </p:cNvPr>
              <p:cNvSpPr/>
              <p:nvPr/>
            </p:nvSpPr>
            <p:spPr>
              <a:xfrm>
                <a:off x="3032595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23C9A946-E747-E8F3-A21B-8D4FB4A43713}"/>
                  </a:ext>
                </a:extLst>
              </p:cNvPr>
              <p:cNvSpPr/>
              <p:nvPr/>
            </p:nvSpPr>
            <p:spPr>
              <a:xfrm>
                <a:off x="7267054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1080000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003D065-AF37-55EC-EA46-3881D9510FD0}"/>
                </a:ext>
              </a:extLst>
            </p:cNvPr>
            <p:cNvSpPr/>
            <p:nvPr/>
          </p:nvSpPr>
          <p:spPr>
            <a:xfrm>
              <a:off x="4698504" y="2233939"/>
              <a:ext cx="2399748" cy="2399748"/>
            </a:xfrm>
            <a:prstGeom prst="ellipse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0AE0E387-8B22-A673-6046-96FCF84D87B3}"/>
                </a:ext>
              </a:extLst>
            </p:cNvPr>
            <p:cNvSpPr txBox="1"/>
            <p:nvPr/>
          </p:nvSpPr>
          <p:spPr>
            <a:xfrm>
              <a:off x="4871485" y="1529657"/>
              <a:ext cx="19271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Trust Boundary</a:t>
              </a:r>
              <a:b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Computer</a:t>
              </a:r>
            </a:p>
          </p:txBody>
        </p:sp>
      </p:grp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1B50FED4-0194-5AFD-3702-2270273B1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804686"/>
              </p:ext>
            </p:extLst>
          </p:nvPr>
        </p:nvGraphicFramePr>
        <p:xfrm>
          <a:off x="1177262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0F3F3925-8C1C-D47C-D125-E7C745CCB82D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F9844EA2-7CB3-F140-53B2-1CAD5A9BB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775928"/>
              </p:ext>
            </p:extLst>
          </p:nvPr>
        </p:nvGraphicFramePr>
        <p:xfrm>
          <a:off x="4995371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310D4824-A839-61B8-D656-C6F8A69BF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51976"/>
              </p:ext>
            </p:extLst>
          </p:nvPr>
        </p:nvGraphicFramePr>
        <p:xfrm>
          <a:off x="8938484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8EC9B8D4-9B37-9598-7F8D-6F9285382A88}"/>
              </a:ext>
            </a:extLst>
          </p:cNvPr>
          <p:cNvSpPr txBox="1"/>
          <p:nvPr/>
        </p:nvSpPr>
        <p:spPr>
          <a:xfrm>
            <a:off x="359924" y="18771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LVL 1 DIAGRAM FLOW</a:t>
            </a:r>
          </a:p>
        </p:txBody>
      </p:sp>
    </p:spTree>
    <p:extLst>
      <p:ext uri="{BB962C8B-B14F-4D97-AF65-F5344CB8AC3E}">
        <p14:creationId xmlns:p14="http://schemas.microsoft.com/office/powerpoint/2010/main" val="304381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96913-D73D-AD70-8AA9-5EBB02F7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50">
            <a:extLst>
              <a:ext uri="{FF2B5EF4-FFF2-40B4-BE49-F238E27FC236}">
                <a16:creationId xmlns:a16="http://schemas.microsoft.com/office/drawing/2014/main" id="{A7AC9EF9-7F53-D7A6-7314-82CF797B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68"/>
          <a:stretch>
            <a:fillRect/>
          </a:stretch>
        </p:blipFill>
        <p:spPr>
          <a:xfrm flipH="1">
            <a:off x="1227201" y="3083433"/>
            <a:ext cx="337154" cy="1869223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B8A1EB50-188B-C292-8112-77FFC574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68"/>
          <a:stretch>
            <a:fillRect/>
          </a:stretch>
        </p:blipFill>
        <p:spPr>
          <a:xfrm>
            <a:off x="10639454" y="3073705"/>
            <a:ext cx="337154" cy="186922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D8AF2D4-4622-37BB-1892-C2316E59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EAE32EC-D1BC-DB34-CA85-0C5D3DCA255E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782A6C37-7314-EE8F-B70A-6D357C1D3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4485950E-1191-E57C-A8DD-1BFFEF22B446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26" name="ZoneTexte 25">
            <a:extLst>
              <a:ext uri="{FF2B5EF4-FFF2-40B4-BE49-F238E27FC236}">
                <a16:creationId xmlns:a16="http://schemas.microsoft.com/office/drawing/2014/main" id="{6E3EDF9A-0438-73A0-0363-16480380F957}"/>
              </a:ext>
            </a:extLst>
          </p:cNvPr>
          <p:cNvSpPr txBox="1"/>
          <p:nvPr/>
        </p:nvSpPr>
        <p:spPr>
          <a:xfrm>
            <a:off x="3996891" y="537637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Spoofing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B2AF5A2-1BBA-CF89-76E2-10C2C9CB9A9E}"/>
              </a:ext>
            </a:extLst>
          </p:cNvPr>
          <p:cNvSpPr txBox="1"/>
          <p:nvPr/>
        </p:nvSpPr>
        <p:spPr>
          <a:xfrm>
            <a:off x="148988" y="3121910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9F65898-BADC-98F5-92D9-57EF68DB194D}"/>
              </a:ext>
            </a:extLst>
          </p:cNvPr>
          <p:cNvSpPr txBox="1"/>
          <p:nvPr/>
        </p:nvSpPr>
        <p:spPr>
          <a:xfrm>
            <a:off x="11077848" y="3144203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D3705BC-AEE3-DF9C-980A-E3ECC32DA7A9}"/>
              </a:ext>
            </a:extLst>
          </p:cNvPr>
          <p:cNvSpPr txBox="1"/>
          <p:nvPr/>
        </p:nvSpPr>
        <p:spPr>
          <a:xfrm>
            <a:off x="355274" y="5154549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latin typeface="Agency FB" panose="020B0503020202020204" pitchFamily="34" charset="0"/>
              </a:rPr>
              <a:t>Repudation</a:t>
            </a:r>
            <a:endParaRPr lang="en-GB" dirty="0">
              <a:latin typeface="Agency FB" panose="020B0503020202020204" pitchFamily="34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2DF7BCF-9DA0-AA30-764A-3A6CFE87997C}"/>
              </a:ext>
            </a:extLst>
          </p:cNvPr>
          <p:cNvSpPr txBox="1"/>
          <p:nvPr/>
        </p:nvSpPr>
        <p:spPr>
          <a:xfrm>
            <a:off x="2681235" y="5376377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Info Disclosure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2117269-606D-E63A-34E6-D6268066C677}"/>
              </a:ext>
            </a:extLst>
          </p:cNvPr>
          <p:cNvSpPr txBox="1"/>
          <p:nvPr/>
        </p:nvSpPr>
        <p:spPr>
          <a:xfrm>
            <a:off x="135686" y="3599333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Elevation of</a:t>
            </a:r>
            <a:br>
              <a:rPr lang="en-GB" dirty="0">
                <a:latin typeface="Agency FB" panose="020B0503020202020204" pitchFamily="34" charset="0"/>
              </a:rPr>
            </a:br>
            <a:r>
              <a:rPr lang="en-GB" dirty="0">
                <a:latin typeface="Agency FB" panose="020B0503020202020204" pitchFamily="34" charset="0"/>
              </a:rPr>
              <a:t>Privilege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D58B13CC-7105-4156-A94F-4EE61C2204EC}"/>
              </a:ext>
            </a:extLst>
          </p:cNvPr>
          <p:cNvSpPr txBox="1"/>
          <p:nvPr/>
        </p:nvSpPr>
        <p:spPr>
          <a:xfrm>
            <a:off x="11040179" y="3657508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Elevation of</a:t>
            </a:r>
            <a:br>
              <a:rPr lang="en-GB" dirty="0">
                <a:latin typeface="Agency FB" panose="020B0503020202020204" pitchFamily="34" charset="0"/>
              </a:rPr>
            </a:br>
            <a:r>
              <a:rPr lang="en-GB" dirty="0">
                <a:latin typeface="Agency FB" panose="020B0503020202020204" pitchFamily="34" charset="0"/>
              </a:rPr>
              <a:t>Privilege</a:t>
            </a: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47CC2423-F2EA-FF55-0DF6-749B0A834771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098287" y="3306576"/>
            <a:ext cx="203706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EBFA56BC-5EB1-FB7F-9FEF-93C6330FC9A7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1160325" y="3922499"/>
            <a:ext cx="155547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4B0BDB8B-A70A-9835-5B4F-0FEF5F8B597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0903059" y="3328869"/>
            <a:ext cx="174789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666684E5-09C8-737C-3D37-68F56F0C9B8C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10899774" y="3980674"/>
            <a:ext cx="140405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A7C65B7E-61C6-5A3A-FCA1-F82A66CBD3CE}"/>
              </a:ext>
            </a:extLst>
          </p:cNvPr>
          <p:cNvSpPr txBox="1"/>
          <p:nvPr/>
        </p:nvSpPr>
        <p:spPr>
          <a:xfrm>
            <a:off x="104627" y="4296534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7416B1F8-6409-5583-E0FB-45AC0093B1DD}"/>
              </a:ext>
            </a:extLst>
          </p:cNvPr>
          <p:cNvCxnSpPr>
            <a:cxnSpLocks/>
          </p:cNvCxnSpPr>
          <p:nvPr/>
        </p:nvCxnSpPr>
        <p:spPr>
          <a:xfrm>
            <a:off x="3231081" y="4333023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6D13094E-194B-E056-FCAB-61861F1DCCB4}"/>
              </a:ext>
            </a:extLst>
          </p:cNvPr>
          <p:cNvGrpSpPr/>
          <p:nvPr/>
        </p:nvGrpSpPr>
        <p:grpSpPr>
          <a:xfrm>
            <a:off x="1393401" y="2102478"/>
            <a:ext cx="9405197" cy="3104030"/>
            <a:chOff x="1393401" y="2102478"/>
            <a:chExt cx="9405197" cy="3104030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E6F29957-FB92-615E-828D-9E02A6FC2736}"/>
                </a:ext>
              </a:extLst>
            </p:cNvPr>
            <p:cNvGrpSpPr/>
            <p:nvPr/>
          </p:nvGrpSpPr>
          <p:grpSpPr>
            <a:xfrm>
              <a:off x="1393401" y="2102478"/>
              <a:ext cx="9405197" cy="3104030"/>
              <a:chOff x="1254868" y="1529657"/>
              <a:chExt cx="9405197" cy="3104030"/>
            </a:xfrm>
          </p:grpSpPr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5B684C3B-3BD4-E393-C681-44E1718FC5EB}"/>
                  </a:ext>
                </a:extLst>
              </p:cNvPr>
              <p:cNvGrpSpPr/>
              <p:nvPr/>
            </p:nvGrpSpPr>
            <p:grpSpPr>
              <a:xfrm>
                <a:off x="1254868" y="2276272"/>
                <a:ext cx="9405197" cy="2305456"/>
                <a:chOff x="1254868" y="2276272"/>
                <a:chExt cx="9405197" cy="2305456"/>
              </a:xfrm>
            </p:grpSpPr>
            <p:sp>
              <p:nvSpPr>
                <p:cNvPr id="19" name="Rectangle : coins arrondis 18">
                  <a:extLst>
                    <a:ext uri="{FF2B5EF4-FFF2-40B4-BE49-F238E27FC236}">
                      <a16:creationId xmlns:a16="http://schemas.microsoft.com/office/drawing/2014/main" id="{86DCB3FA-06EE-04A6-74C9-F79C5A8CE664}"/>
                    </a:ext>
                  </a:extLst>
                </p:cNvPr>
                <p:cNvSpPr/>
                <p:nvPr/>
              </p:nvSpPr>
              <p:spPr>
                <a:xfrm>
                  <a:off x="1254868" y="2704289"/>
                  <a:ext cx="1643975" cy="1449422"/>
                </a:xfrm>
                <a:prstGeom prst="roundRect">
                  <a:avLst>
                    <a:gd name="adj" fmla="val 7271"/>
                  </a:avLst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Publisher</a:t>
                  </a:r>
                </a:p>
                <a:p>
                  <a:pPr algn="ctr"/>
                  <a:r>
                    <a:rPr lang="en-GB" dirty="0"/>
                    <a:t>ESP32</a:t>
                  </a:r>
                </a:p>
              </p:txBody>
            </p:sp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DE4CF976-5903-3FCC-F1F2-6F8D273AF7D3}"/>
                    </a:ext>
                  </a:extLst>
                </p:cNvPr>
                <p:cNvSpPr/>
                <p:nvPr/>
              </p:nvSpPr>
              <p:spPr>
                <a:xfrm>
                  <a:off x="9016090" y="2704289"/>
                  <a:ext cx="1643975" cy="1449422"/>
                </a:xfrm>
                <a:prstGeom prst="roundRect">
                  <a:avLst>
                    <a:gd name="adj" fmla="val 7271"/>
                  </a:avLst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 err="1"/>
                    <a:t>Suscriber</a:t>
                  </a:r>
                  <a:endParaRPr lang="en-GB" dirty="0"/>
                </a:p>
                <a:p>
                  <a:pPr algn="ctr"/>
                  <a:r>
                    <a:rPr lang="en-GB" dirty="0"/>
                    <a:t>ESP32</a:t>
                  </a:r>
                </a:p>
              </p:txBody>
            </p:sp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DF29602A-07AD-E82C-F276-09D2256DFAE9}"/>
                    </a:ext>
                  </a:extLst>
                </p:cNvPr>
                <p:cNvSpPr/>
                <p:nvPr/>
              </p:nvSpPr>
              <p:spPr>
                <a:xfrm>
                  <a:off x="4742236" y="2276272"/>
                  <a:ext cx="2305456" cy="2305456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MQTT Broker</a:t>
                  </a:r>
                </a:p>
              </p:txBody>
            </p:sp>
            <p:sp>
              <p:nvSpPr>
                <p:cNvPr id="24" name="Flèche : droite 23">
                  <a:extLst>
                    <a:ext uri="{FF2B5EF4-FFF2-40B4-BE49-F238E27FC236}">
                      <a16:creationId xmlns:a16="http://schemas.microsoft.com/office/drawing/2014/main" id="{2EC861CE-FD90-82E1-D489-3BFA5BE591A0}"/>
                    </a:ext>
                  </a:extLst>
                </p:cNvPr>
                <p:cNvSpPr/>
                <p:nvPr/>
              </p:nvSpPr>
              <p:spPr>
                <a:xfrm>
                  <a:off x="3032595" y="3157631"/>
                  <a:ext cx="1568586" cy="485057"/>
                </a:xfrm>
                <a:prstGeom prst="rightArrow">
                  <a:avLst>
                    <a:gd name="adj1" fmla="val 66044"/>
                    <a:gd name="adj2" fmla="val 50000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bg2">
                        <a:lumMod val="75000"/>
                      </a:schemeClr>
                    </a:gs>
                  </a:gsLst>
                  <a:lin ang="0" scaled="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>
                      <a:solidFill>
                        <a:schemeClr val="tx1"/>
                      </a:solidFill>
                      <a:latin typeface="Agency FB" panose="020B0503020202020204" pitchFamily="34" charset="0"/>
                    </a:rPr>
                    <a:t>NETWORK</a:t>
                  </a:r>
                </a:p>
              </p:txBody>
            </p:sp>
          </p:grp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8004159C-A901-60C6-C6C6-D93D308CCD4B}"/>
                  </a:ext>
                </a:extLst>
              </p:cNvPr>
              <p:cNvSpPr/>
              <p:nvPr/>
            </p:nvSpPr>
            <p:spPr>
              <a:xfrm>
                <a:off x="4698504" y="2233939"/>
                <a:ext cx="2399748" cy="2399748"/>
              </a:xfrm>
              <a:prstGeom prst="ellipse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9931D90F-5D1F-1FBC-454A-335E62B572B8}"/>
                  </a:ext>
                </a:extLst>
              </p:cNvPr>
              <p:cNvSpPr txBox="1"/>
              <p:nvPr/>
            </p:nvSpPr>
            <p:spPr>
              <a:xfrm>
                <a:off x="4871485" y="1529657"/>
                <a:ext cx="19271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accent3">
                        <a:lumMod val="75000"/>
                      </a:schemeClr>
                    </a:solidFill>
                  </a:rPr>
                  <a:t>Trust Boundary</a:t>
                </a:r>
                <a:br>
                  <a:rPr lang="en-GB" b="1" dirty="0">
                    <a:solidFill>
                      <a:schemeClr val="accent3">
                        <a:lumMod val="75000"/>
                      </a:schemeClr>
                    </a:solidFill>
                  </a:rPr>
                </a:br>
                <a:r>
                  <a:rPr lang="en-GB" b="1" dirty="0">
                    <a:solidFill>
                      <a:schemeClr val="accent3">
                        <a:lumMod val="75000"/>
                      </a:schemeClr>
                    </a:solidFill>
                  </a:rPr>
                  <a:t>Computer</a:t>
                </a:r>
              </a:p>
            </p:txBody>
          </p:sp>
        </p:grpSp>
        <p:sp>
          <p:nvSpPr>
            <p:cNvPr id="66" name="Flèche : droite 65">
              <a:extLst>
                <a:ext uri="{FF2B5EF4-FFF2-40B4-BE49-F238E27FC236}">
                  <a16:creationId xmlns:a16="http://schemas.microsoft.com/office/drawing/2014/main" id="{521510CD-3C7F-1AF8-98A4-59EB642FF56E}"/>
                </a:ext>
              </a:extLst>
            </p:cNvPr>
            <p:cNvSpPr/>
            <p:nvPr/>
          </p:nvSpPr>
          <p:spPr>
            <a:xfrm>
              <a:off x="7392332" y="3737514"/>
              <a:ext cx="1568586" cy="485057"/>
            </a:xfrm>
            <a:prstGeom prst="rightArrow">
              <a:avLst>
                <a:gd name="adj1" fmla="val 66044"/>
                <a:gd name="adj2" fmla="val 50000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  <a:latin typeface="Agency FB" panose="020B0503020202020204" pitchFamily="34" charset="0"/>
                </a:rPr>
                <a:t>NETWORK</a:t>
              </a:r>
            </a:p>
          </p:txBody>
        </p:sp>
      </p:grp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96327CE4-5DB9-541C-9EC1-EC392DBE7FAF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3315872" y="4333023"/>
            <a:ext cx="5122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0B74F6B1-0A38-0095-75DF-4868254EA1A6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403413" y="4333023"/>
            <a:ext cx="0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9DAB893A-94BD-DB7A-FED2-F077456AE227}"/>
              </a:ext>
            </a:extLst>
          </p:cNvPr>
          <p:cNvCxnSpPr>
            <a:cxnSpLocks/>
          </p:cNvCxnSpPr>
          <p:nvPr/>
        </p:nvCxnSpPr>
        <p:spPr>
          <a:xfrm>
            <a:off x="3945646" y="4345656"/>
            <a:ext cx="0" cy="173002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CF5A99EA-FFC5-E794-D607-C53A85F44D62}"/>
              </a:ext>
            </a:extLst>
          </p:cNvPr>
          <p:cNvSpPr txBox="1"/>
          <p:nvPr/>
        </p:nvSpPr>
        <p:spPr>
          <a:xfrm>
            <a:off x="3445596" y="6026222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B351E39-C69A-CDAE-F0E4-CCA535FF55AB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1130349" y="4619699"/>
            <a:ext cx="166984" cy="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4A16620A-DA94-DBEB-C140-E8CCDF4E573D}"/>
              </a:ext>
            </a:extLst>
          </p:cNvPr>
          <p:cNvSpPr txBox="1"/>
          <p:nvPr/>
        </p:nvSpPr>
        <p:spPr>
          <a:xfrm>
            <a:off x="11077848" y="4309311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EB123A64-0E41-DA91-037D-DBB2C254B410}"/>
              </a:ext>
            </a:extLst>
          </p:cNvPr>
          <p:cNvCxnSpPr>
            <a:cxnSpLocks/>
            <a:stCxn id="82" idx="1"/>
          </p:cNvCxnSpPr>
          <p:nvPr/>
        </p:nvCxnSpPr>
        <p:spPr>
          <a:xfrm flipH="1">
            <a:off x="10899258" y="4632477"/>
            <a:ext cx="17859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90">
            <a:extLst>
              <a:ext uri="{FF2B5EF4-FFF2-40B4-BE49-F238E27FC236}">
                <a16:creationId xmlns:a16="http://schemas.microsoft.com/office/drawing/2014/main" id="{DF64D171-A0B9-3D1A-EBD6-F44450A7E94E}"/>
              </a:ext>
            </a:extLst>
          </p:cNvPr>
          <p:cNvSpPr txBox="1"/>
          <p:nvPr/>
        </p:nvSpPr>
        <p:spPr>
          <a:xfrm>
            <a:off x="3334960" y="2596620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D7FC3E60-2CE5-BB3C-AF55-E126F0A742CF}"/>
              </a:ext>
            </a:extLst>
          </p:cNvPr>
          <p:cNvCxnSpPr>
            <a:cxnSpLocks/>
          </p:cNvCxnSpPr>
          <p:nvPr/>
        </p:nvCxnSpPr>
        <p:spPr>
          <a:xfrm>
            <a:off x="3220532" y="3639973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9D9F7CBE-26E1-3E9C-A093-BD6107BA4A2E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3847821" y="3242951"/>
            <a:ext cx="0" cy="40919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ZoneTexte 98">
            <a:extLst>
              <a:ext uri="{FF2B5EF4-FFF2-40B4-BE49-F238E27FC236}">
                <a16:creationId xmlns:a16="http://schemas.microsoft.com/office/drawing/2014/main" id="{285EEB11-DEF9-7879-6DFF-925607184B8E}"/>
              </a:ext>
            </a:extLst>
          </p:cNvPr>
          <p:cNvSpPr txBox="1"/>
          <p:nvPr/>
        </p:nvSpPr>
        <p:spPr>
          <a:xfrm>
            <a:off x="8254499" y="537264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Spoofing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3868B794-1C20-8DD3-9814-ADCDA08B90F9}"/>
              </a:ext>
            </a:extLst>
          </p:cNvPr>
          <p:cNvSpPr txBox="1"/>
          <p:nvPr/>
        </p:nvSpPr>
        <p:spPr>
          <a:xfrm>
            <a:off x="6938843" y="5372641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Info Disclosure</a:t>
            </a:r>
          </a:p>
        </p:txBody>
      </p: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D0BCC77E-A899-3B1B-303D-7D51850DA9D3}"/>
              </a:ext>
            </a:extLst>
          </p:cNvPr>
          <p:cNvCxnSpPr>
            <a:cxnSpLocks/>
          </p:cNvCxnSpPr>
          <p:nvPr/>
        </p:nvCxnSpPr>
        <p:spPr>
          <a:xfrm>
            <a:off x="7488689" y="4329287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5F11F209-E694-C4B1-F547-3AA05E7B6944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7573480" y="4329287"/>
            <a:ext cx="5122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0251D2A0-60B5-E46D-A9FA-9189D4C27966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8661021" y="4329287"/>
            <a:ext cx="0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BF3165AD-E0CE-B298-168F-B27D54A2E873}"/>
              </a:ext>
            </a:extLst>
          </p:cNvPr>
          <p:cNvCxnSpPr>
            <a:cxnSpLocks/>
          </p:cNvCxnSpPr>
          <p:nvPr/>
        </p:nvCxnSpPr>
        <p:spPr>
          <a:xfrm>
            <a:off x="8203254" y="4341920"/>
            <a:ext cx="0" cy="173002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19BDF52-BDD4-C23E-58C0-FB0002B6304C}"/>
              </a:ext>
            </a:extLst>
          </p:cNvPr>
          <p:cNvSpPr txBox="1"/>
          <p:nvPr/>
        </p:nvSpPr>
        <p:spPr>
          <a:xfrm>
            <a:off x="7703204" y="602248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FA35A5D8-92DC-ACB8-DFDF-2037A6BBF431}"/>
              </a:ext>
            </a:extLst>
          </p:cNvPr>
          <p:cNvSpPr txBox="1"/>
          <p:nvPr/>
        </p:nvSpPr>
        <p:spPr>
          <a:xfrm>
            <a:off x="7550470" y="2596620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D6B11E3B-AF15-1E8C-D729-4D2CFB2731AA}"/>
              </a:ext>
            </a:extLst>
          </p:cNvPr>
          <p:cNvCxnSpPr>
            <a:cxnSpLocks/>
          </p:cNvCxnSpPr>
          <p:nvPr/>
        </p:nvCxnSpPr>
        <p:spPr>
          <a:xfrm>
            <a:off x="7436042" y="3639973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D7C50A6C-3AE5-967D-4CF8-8852DFF26F73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8063331" y="3242951"/>
            <a:ext cx="0" cy="40919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ZoneTexte 108">
            <a:extLst>
              <a:ext uri="{FF2B5EF4-FFF2-40B4-BE49-F238E27FC236}">
                <a16:creationId xmlns:a16="http://schemas.microsoft.com/office/drawing/2014/main" id="{0ABFC2FF-C8FA-B1ED-8799-8C9DA6FD3427}"/>
              </a:ext>
            </a:extLst>
          </p:cNvPr>
          <p:cNvSpPr txBox="1"/>
          <p:nvPr/>
        </p:nvSpPr>
        <p:spPr>
          <a:xfrm>
            <a:off x="3771171" y="1804764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latin typeface="Agency FB" panose="020B0503020202020204" pitchFamily="34" charset="0"/>
              </a:rPr>
              <a:t>Repudation</a:t>
            </a:r>
            <a:endParaRPr lang="en-GB" dirty="0">
              <a:latin typeface="Agency FB" panose="020B0503020202020204" pitchFamily="34" charset="0"/>
            </a:endParaRPr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5DC1990B-54D1-C72B-6940-E69E4BD66F0B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850763" y="4786866"/>
            <a:ext cx="464727" cy="367683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ZoneTexte 112">
            <a:extLst>
              <a:ext uri="{FF2B5EF4-FFF2-40B4-BE49-F238E27FC236}">
                <a16:creationId xmlns:a16="http://schemas.microsoft.com/office/drawing/2014/main" id="{9F351F71-94D4-AACB-0136-A6B642323D71}"/>
              </a:ext>
            </a:extLst>
          </p:cNvPr>
          <p:cNvSpPr txBox="1"/>
          <p:nvPr/>
        </p:nvSpPr>
        <p:spPr>
          <a:xfrm>
            <a:off x="11130804" y="5206508"/>
            <a:ext cx="990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Agency FB" panose="020B0503020202020204" pitchFamily="34" charset="0"/>
              </a:rPr>
              <a:t>Repudation</a:t>
            </a:r>
            <a:endParaRPr lang="en-GB" dirty="0">
              <a:latin typeface="Agency FB" panose="020B0503020202020204" pitchFamily="34" charset="0"/>
            </a:endParaRPr>
          </a:p>
        </p:txBody>
      </p: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1A2A46F8-5938-213C-A1D1-4FB61D6E3170}"/>
              </a:ext>
            </a:extLst>
          </p:cNvPr>
          <p:cNvCxnSpPr>
            <a:cxnSpLocks/>
            <a:stCxn id="113" idx="0"/>
          </p:cNvCxnSpPr>
          <p:nvPr/>
        </p:nvCxnSpPr>
        <p:spPr>
          <a:xfrm flipH="1" flipV="1">
            <a:off x="10875645" y="4786866"/>
            <a:ext cx="750648" cy="419642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797471ED-AD72-9211-5D46-3293EF888EBB}"/>
              </a:ext>
            </a:extLst>
          </p:cNvPr>
          <p:cNvCxnSpPr>
            <a:stCxn id="109" idx="2"/>
            <a:endCxn id="10" idx="1"/>
          </p:cNvCxnSpPr>
          <p:nvPr/>
        </p:nvCxnSpPr>
        <p:spPr>
          <a:xfrm>
            <a:off x="4266660" y="2174096"/>
            <a:ext cx="921812" cy="984099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91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DCB4-1A37-BD71-73B5-77F5A004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9C276-86CC-8602-1855-C4BB2C985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718EE73-D9E3-3240-29C9-FC61A7516447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B3355788-3E08-6412-B66C-957B3FF14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3DF70185-25DE-0FD5-B326-21EDD4A5A039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145D135-3BAD-72E0-7D48-55E0EB39C30A}"/>
              </a:ext>
            </a:extLst>
          </p:cNvPr>
          <p:cNvSpPr/>
          <p:nvPr/>
        </p:nvSpPr>
        <p:spPr>
          <a:xfrm>
            <a:off x="1760479" y="2396162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A213EB0-8501-BDE9-25F3-4DC83F50B394}"/>
              </a:ext>
            </a:extLst>
          </p:cNvPr>
          <p:cNvSpPr/>
          <p:nvPr/>
        </p:nvSpPr>
        <p:spPr>
          <a:xfrm>
            <a:off x="9107817" y="2396162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Suscriber</a:t>
            </a:r>
            <a:endParaRPr lang="en-GB" dirty="0"/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E2BEF95-92E4-FB7E-F569-5263A54A6AA9}"/>
              </a:ext>
            </a:extLst>
          </p:cNvPr>
          <p:cNvSpPr/>
          <p:nvPr/>
        </p:nvSpPr>
        <p:spPr>
          <a:xfrm>
            <a:off x="5061876" y="2016217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2C44DB14-EBB6-5F52-0E90-4EE98A3B0780}"/>
              </a:ext>
            </a:extLst>
          </p:cNvPr>
          <p:cNvSpPr/>
          <p:nvPr/>
        </p:nvSpPr>
        <p:spPr>
          <a:xfrm>
            <a:off x="3443405" y="2901318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7C92F5E0-9A3F-97D7-BF14-F3A742C2B820}"/>
              </a:ext>
            </a:extLst>
          </p:cNvPr>
          <p:cNvSpPr/>
          <p:nvPr/>
        </p:nvSpPr>
        <p:spPr>
          <a:xfrm>
            <a:off x="7452052" y="2901318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8FAB50-C29E-1681-3699-51041C8D5F10}"/>
              </a:ext>
            </a:extLst>
          </p:cNvPr>
          <p:cNvSpPr/>
          <p:nvPr/>
        </p:nvSpPr>
        <p:spPr>
          <a:xfrm>
            <a:off x="5020476" y="1978638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0C58ABB-7F1F-8E51-DA3B-3ECF0DA47247}"/>
              </a:ext>
            </a:extLst>
          </p:cNvPr>
          <p:cNvSpPr txBox="1"/>
          <p:nvPr/>
        </p:nvSpPr>
        <p:spPr>
          <a:xfrm>
            <a:off x="5184232" y="1353456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185501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4457-F3F4-0378-0864-AD7D2D22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748515-9A03-82A0-4FFA-986B51EB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9CC3AD9-FC12-5A7F-92F2-516F770FC5FA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5B7B58A3-C47C-E66C-DAFF-0D811A5D2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9C7F514F-3ADE-E0B5-29F1-1B5E74ADE0BC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6614A2-F780-DFF4-2ADD-15B4264FE179}"/>
              </a:ext>
            </a:extLst>
          </p:cNvPr>
          <p:cNvSpPr/>
          <p:nvPr/>
        </p:nvSpPr>
        <p:spPr>
          <a:xfrm>
            <a:off x="3473532" y="2350198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FD80E75-D871-CA0E-23E4-2BAF2D155A79}"/>
              </a:ext>
            </a:extLst>
          </p:cNvPr>
          <p:cNvSpPr/>
          <p:nvPr/>
        </p:nvSpPr>
        <p:spPr>
          <a:xfrm>
            <a:off x="6774929" y="1970253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DCEFF9F0-31E8-8060-96B2-480B141220DE}"/>
              </a:ext>
            </a:extLst>
          </p:cNvPr>
          <p:cNvSpPr/>
          <p:nvPr/>
        </p:nvSpPr>
        <p:spPr>
          <a:xfrm>
            <a:off x="5156458" y="2855354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08773DF-307E-88EB-5684-262C624BBE62}"/>
              </a:ext>
            </a:extLst>
          </p:cNvPr>
          <p:cNvSpPr/>
          <p:nvPr/>
        </p:nvSpPr>
        <p:spPr>
          <a:xfrm>
            <a:off x="6733529" y="1932674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EF4FC92-A5D7-4609-7E60-4F379581374F}"/>
              </a:ext>
            </a:extLst>
          </p:cNvPr>
          <p:cNvSpPr txBox="1"/>
          <p:nvPr/>
        </p:nvSpPr>
        <p:spPr>
          <a:xfrm>
            <a:off x="6897285" y="1307492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690799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5183-90E3-6665-D8EE-5BA0B21A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760492D4-D349-4839-D363-24DE0E075D41}"/>
              </a:ext>
            </a:extLst>
          </p:cNvPr>
          <p:cNvSpPr/>
          <p:nvPr/>
        </p:nvSpPr>
        <p:spPr>
          <a:xfrm>
            <a:off x="3315924" y="2145709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C472AA23-604D-6DB4-1D8F-4E0C50A4C83F}"/>
              </a:ext>
            </a:extLst>
          </p:cNvPr>
          <p:cNvSpPr/>
          <p:nvPr/>
        </p:nvSpPr>
        <p:spPr>
          <a:xfrm>
            <a:off x="6617321" y="1765764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69" name="Flèche : droite 68">
            <a:extLst>
              <a:ext uri="{FF2B5EF4-FFF2-40B4-BE49-F238E27FC236}">
                <a16:creationId xmlns:a16="http://schemas.microsoft.com/office/drawing/2014/main" id="{E3163769-4407-51A1-D1AC-C42473433019}"/>
              </a:ext>
            </a:extLst>
          </p:cNvPr>
          <p:cNvSpPr/>
          <p:nvPr/>
        </p:nvSpPr>
        <p:spPr>
          <a:xfrm>
            <a:off x="4998850" y="2650865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885D0C5-E479-F7CD-DF0E-1B2A86766840}"/>
              </a:ext>
            </a:extLst>
          </p:cNvPr>
          <p:cNvSpPr/>
          <p:nvPr/>
        </p:nvSpPr>
        <p:spPr>
          <a:xfrm>
            <a:off x="6575921" y="1728185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D7F9AC27-1536-96F2-A853-19EDA2B52F44}"/>
              </a:ext>
            </a:extLst>
          </p:cNvPr>
          <p:cNvSpPr txBox="1"/>
          <p:nvPr/>
        </p:nvSpPr>
        <p:spPr>
          <a:xfrm>
            <a:off x="6739677" y="1103003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  <p:grpSp>
        <p:nvGrpSpPr>
          <p:cNvPr id="124" name="Groupe 123">
            <a:extLst>
              <a:ext uri="{FF2B5EF4-FFF2-40B4-BE49-F238E27FC236}">
                <a16:creationId xmlns:a16="http://schemas.microsoft.com/office/drawing/2014/main" id="{1EC00E52-96B3-7103-0CE6-C071EFC67908}"/>
              </a:ext>
            </a:extLst>
          </p:cNvPr>
          <p:cNvGrpSpPr/>
          <p:nvPr/>
        </p:nvGrpSpPr>
        <p:grpSpPr>
          <a:xfrm>
            <a:off x="2124884" y="2661998"/>
            <a:ext cx="1143177" cy="369332"/>
            <a:chOff x="2124884" y="2661998"/>
            <a:chExt cx="1143177" cy="369332"/>
          </a:xfrm>
        </p:grpSpPr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6D98919D-4E31-8588-E1A8-F0E39B8E290F}"/>
                </a:ext>
              </a:extLst>
            </p:cNvPr>
            <p:cNvSpPr txBox="1"/>
            <p:nvPr/>
          </p:nvSpPr>
          <p:spPr>
            <a:xfrm>
              <a:off x="2124884" y="2661998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latin typeface="Agency FB" panose="020B0503020202020204" pitchFamily="34" charset="0"/>
                </a:rPr>
                <a:t>MORSE</a:t>
              </a:r>
            </a:p>
          </p:txBody>
        </p:sp>
        <p:sp>
          <p:nvSpPr>
            <p:cNvPr id="75" name="Flèche : droite 74">
              <a:extLst>
                <a:ext uri="{FF2B5EF4-FFF2-40B4-BE49-F238E27FC236}">
                  <a16:creationId xmlns:a16="http://schemas.microsoft.com/office/drawing/2014/main" id="{EE21191B-6F77-C228-681C-89C3958ABBF7}"/>
                </a:ext>
              </a:extLst>
            </p:cNvPr>
            <p:cNvSpPr/>
            <p:nvPr/>
          </p:nvSpPr>
          <p:spPr>
            <a:xfrm>
              <a:off x="2793936" y="2793298"/>
              <a:ext cx="474125" cy="129574"/>
            </a:xfrm>
            <a:prstGeom prst="rightArrow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70AA189-88BA-FFF6-EEBF-7F5649AE2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D9A7BDB-CC2E-0E05-38C4-659424AEC8D5}"/>
              </a:ext>
            </a:extLst>
          </p:cNvPr>
          <p:cNvSpPr txBox="1"/>
          <p:nvPr/>
        </p:nvSpPr>
        <p:spPr>
          <a:xfrm>
            <a:off x="280449" y="1263766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063BD37E-D9FB-E49B-627E-BF3B19340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0CE3F432-BD05-E22A-8B6D-9BB8B3F22C5A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E934AF57-B0A8-6AFE-7F7B-E4D08B4AF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876873"/>
              </p:ext>
            </p:extLst>
          </p:nvPr>
        </p:nvGraphicFramePr>
        <p:xfrm>
          <a:off x="2152352" y="1785983"/>
          <a:ext cx="1331615" cy="6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ENC,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PUBLIC CODE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</a:tbl>
          </a:graphicData>
        </a:graphic>
      </p:graphicFrame>
      <p:graphicFrame>
        <p:nvGraphicFramePr>
          <p:cNvPr id="29" name="Diagramme 28">
            <a:extLst>
              <a:ext uri="{FF2B5EF4-FFF2-40B4-BE49-F238E27FC236}">
                <a16:creationId xmlns:a16="http://schemas.microsoft.com/office/drawing/2014/main" id="{CCA03361-D2FC-F2C3-9E56-8E4809C1A3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1428795"/>
              </p:ext>
            </p:extLst>
          </p:nvPr>
        </p:nvGraphicFramePr>
        <p:xfrm>
          <a:off x="1779751" y="3888976"/>
          <a:ext cx="4212076" cy="1551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" name="Groupe 3">
            <a:extLst>
              <a:ext uri="{FF2B5EF4-FFF2-40B4-BE49-F238E27FC236}">
                <a16:creationId xmlns:a16="http://schemas.microsoft.com/office/drawing/2014/main" id="{C5394AB1-D33E-491B-ED84-A5BB5BC9177E}"/>
              </a:ext>
            </a:extLst>
          </p:cNvPr>
          <p:cNvGrpSpPr/>
          <p:nvPr/>
        </p:nvGrpSpPr>
        <p:grpSpPr>
          <a:xfrm>
            <a:off x="2414206" y="5362409"/>
            <a:ext cx="3577621" cy="1054425"/>
            <a:chOff x="2414206" y="5362409"/>
            <a:chExt cx="3577621" cy="1054425"/>
          </a:xfrm>
        </p:grpSpPr>
        <p:graphicFrame>
          <p:nvGraphicFramePr>
            <p:cNvPr id="28" name="Diagramme 27">
              <a:extLst>
                <a:ext uri="{FF2B5EF4-FFF2-40B4-BE49-F238E27FC236}">
                  <a16:creationId xmlns:a16="http://schemas.microsoft.com/office/drawing/2014/main" id="{EF23E893-47D5-E6D6-5C03-07DC05B7880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12172860"/>
                </p:ext>
              </p:extLst>
            </p:nvPr>
          </p:nvGraphicFramePr>
          <p:xfrm>
            <a:off x="2414206" y="5513436"/>
            <a:ext cx="3577621" cy="90339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30" name="Flèche : bas 29">
              <a:extLst>
                <a:ext uri="{FF2B5EF4-FFF2-40B4-BE49-F238E27FC236}">
                  <a16:creationId xmlns:a16="http://schemas.microsoft.com/office/drawing/2014/main" id="{A06D362E-716A-C5CB-6D3D-03C45DDE251A}"/>
                </a:ext>
              </a:extLst>
            </p:cNvPr>
            <p:cNvSpPr/>
            <p:nvPr/>
          </p:nvSpPr>
          <p:spPr>
            <a:xfrm>
              <a:off x="5486291" y="5362409"/>
              <a:ext cx="418610" cy="51726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0C843121-FEE5-FD6D-EE24-FCA14B7E3B10}"/>
              </a:ext>
            </a:extLst>
          </p:cNvPr>
          <p:cNvSpPr/>
          <p:nvPr/>
        </p:nvSpPr>
        <p:spPr>
          <a:xfrm>
            <a:off x="1801791" y="5844657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Ram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33C76D-38D5-5A91-DA11-81EA0B264FF1}"/>
              </a:ext>
            </a:extLst>
          </p:cNvPr>
          <p:cNvSpPr/>
          <p:nvPr/>
        </p:nvSpPr>
        <p:spPr>
          <a:xfrm>
            <a:off x="1461888" y="1723683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6EB1D73C-6D0C-0BE1-0F7A-D903174D96F5}"/>
              </a:ext>
            </a:extLst>
          </p:cNvPr>
          <p:cNvSpPr/>
          <p:nvPr/>
        </p:nvSpPr>
        <p:spPr>
          <a:xfrm>
            <a:off x="5795058" y="3067321"/>
            <a:ext cx="601884" cy="3287210"/>
          </a:xfrm>
          <a:custGeom>
            <a:avLst/>
            <a:gdLst>
              <a:gd name="connsiteX0" fmla="*/ 0 w 601884"/>
              <a:gd name="connsiteY0" fmla="*/ 0 h 3287210"/>
              <a:gd name="connsiteX1" fmla="*/ 0 w 601884"/>
              <a:gd name="connsiteY1" fmla="*/ 636608 h 3287210"/>
              <a:gd name="connsiteX2" fmla="*/ 601884 w 601884"/>
              <a:gd name="connsiteY2" fmla="*/ 1921398 h 3287210"/>
              <a:gd name="connsiteX3" fmla="*/ 601884 w 601884"/>
              <a:gd name="connsiteY3" fmla="*/ 3287210 h 328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884" h="3287210">
                <a:moveTo>
                  <a:pt x="0" y="0"/>
                </a:moveTo>
                <a:lnTo>
                  <a:pt x="0" y="636608"/>
                </a:lnTo>
                <a:lnTo>
                  <a:pt x="601884" y="1921398"/>
                </a:lnTo>
                <a:lnTo>
                  <a:pt x="601884" y="3287210"/>
                </a:ln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C15C7632-3363-AD7F-2284-5E1C69100E76}"/>
              </a:ext>
            </a:extLst>
          </p:cNvPr>
          <p:cNvCxnSpPr>
            <a:cxnSpLocks/>
            <a:stCxn id="28" idx="3"/>
            <a:endCxn id="64" idx="1"/>
          </p:cNvCxnSpPr>
          <p:nvPr/>
        </p:nvCxnSpPr>
        <p:spPr>
          <a:xfrm flipV="1">
            <a:off x="5991827" y="4415483"/>
            <a:ext cx="1071945" cy="1549652"/>
          </a:xfrm>
          <a:prstGeom prst="bentConnector3">
            <a:avLst>
              <a:gd name="adj1" fmla="val 50000"/>
            </a:avLst>
          </a:prstGeom>
          <a:ln w="104775">
            <a:solidFill>
              <a:schemeClr val="accent6">
                <a:lumMod val="40000"/>
                <a:lumOff val="60000"/>
                <a:alpha val="90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512613FF-1DDC-A330-6BC2-89B9FC24913C}"/>
              </a:ext>
            </a:extLst>
          </p:cNvPr>
          <p:cNvSpPr/>
          <p:nvPr/>
        </p:nvSpPr>
        <p:spPr>
          <a:xfrm>
            <a:off x="1659637" y="5106870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F549C963-FF8D-5B88-9978-9E61FB561CC7}"/>
              </a:ext>
            </a:extLst>
          </p:cNvPr>
          <p:cNvGrpSpPr/>
          <p:nvPr/>
        </p:nvGrpSpPr>
        <p:grpSpPr>
          <a:xfrm>
            <a:off x="7038024" y="4189633"/>
            <a:ext cx="3494339" cy="926927"/>
            <a:chOff x="7038024" y="4189633"/>
            <a:chExt cx="3324463" cy="926927"/>
          </a:xfrm>
        </p:grpSpPr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BE353D92-12B4-1D66-1C18-3059CD42D9F3}"/>
                </a:ext>
              </a:extLst>
            </p:cNvPr>
            <p:cNvGrpSpPr/>
            <p:nvPr/>
          </p:nvGrpSpPr>
          <p:grpSpPr>
            <a:xfrm>
              <a:off x="7050272" y="4189633"/>
              <a:ext cx="3312215" cy="451699"/>
              <a:chOff x="0" y="225849"/>
              <a:chExt cx="3577621" cy="451699"/>
            </a:xfrm>
          </p:grpSpPr>
          <p:sp>
            <p:nvSpPr>
              <p:cNvPr id="63" name="Rectangle : coins arrondis 62">
                <a:extLst>
                  <a:ext uri="{FF2B5EF4-FFF2-40B4-BE49-F238E27FC236}">
                    <a16:creationId xmlns:a16="http://schemas.microsoft.com/office/drawing/2014/main" id="{537E7A75-9C74-4EDC-FD6F-3C6EE740923F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64" name="Rectangle : coins arrondis 4">
                <a:extLst>
                  <a:ext uri="{FF2B5EF4-FFF2-40B4-BE49-F238E27FC236}">
                    <a16:creationId xmlns:a16="http://schemas.microsoft.com/office/drawing/2014/main" id="{2838B9A3-832D-0418-98D8-6C91A5184F2A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>
                    <a:latin typeface="Agency FB" panose="020B0503020202020204" pitchFamily="34" charset="0"/>
                  </a:rPr>
                  <a:t>Mess = Enc [</a:t>
                </a:r>
                <a:r>
                  <a:rPr lang="en-GB" sz="2400" dirty="0">
                    <a:latin typeface="Agency FB" panose="020B0503020202020204" pitchFamily="34" charset="0"/>
                  </a:rPr>
                  <a:t>P</a:t>
                </a:r>
                <a:r>
                  <a:rPr lang="en-GB" sz="2400" kern="1200" dirty="0">
                    <a:latin typeface="Agency FB" panose="020B0503020202020204" pitchFamily="34" charset="0"/>
                  </a:rPr>
                  <a:t>ayload, Shared Key]</a:t>
                </a:r>
              </a:p>
            </p:txBody>
          </p:sp>
        </p:grp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387E69D6-9EA0-1104-87ED-582AF20E3C4E}"/>
                </a:ext>
              </a:extLst>
            </p:cNvPr>
            <p:cNvSpPr/>
            <p:nvPr/>
          </p:nvSpPr>
          <p:spPr>
            <a:xfrm>
              <a:off x="7038024" y="4664861"/>
              <a:ext cx="3312215" cy="451699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GB" sz="2400" dirty="0">
                  <a:latin typeface="Agency FB" panose="020B0503020202020204" pitchFamily="34" charset="0"/>
                </a:rPr>
                <a:t>Sign = </a:t>
              </a:r>
              <a:r>
                <a:rPr lang="en-GB" sz="2400">
                  <a:latin typeface="Agency FB" panose="020B0503020202020204" pitchFamily="34" charset="0"/>
                </a:rPr>
                <a:t>Hashed [Mess, </a:t>
              </a:r>
              <a:r>
                <a:rPr lang="en-GB" sz="2400" dirty="0">
                  <a:latin typeface="Agency FB" panose="020B0503020202020204" pitchFamily="34" charset="0"/>
                </a:rPr>
                <a:t>Key]</a:t>
              </a:r>
            </a:p>
          </p:txBody>
        </p:sp>
      </p:grpSp>
      <p:graphicFrame>
        <p:nvGraphicFramePr>
          <p:cNvPr id="115" name="Tableau 114">
            <a:extLst>
              <a:ext uri="{FF2B5EF4-FFF2-40B4-BE49-F238E27FC236}">
                <a16:creationId xmlns:a16="http://schemas.microsoft.com/office/drawing/2014/main" id="{DBE04823-127B-3868-4123-BB5ADD69D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777388"/>
              </p:ext>
            </p:extLst>
          </p:nvPr>
        </p:nvGraphicFramePr>
        <p:xfrm>
          <a:off x="8564040" y="1807063"/>
          <a:ext cx="1331615" cy="6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ENC,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LOG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</a:tbl>
          </a:graphicData>
        </a:graphic>
      </p:graphicFrame>
      <p:sp>
        <p:nvSpPr>
          <p:cNvPr id="116" name="Rectangle 115">
            <a:extLst>
              <a:ext uri="{FF2B5EF4-FFF2-40B4-BE49-F238E27FC236}">
                <a16:creationId xmlns:a16="http://schemas.microsoft.com/office/drawing/2014/main" id="{2898CAB0-0BA4-CA96-B502-E10B8DFC46F2}"/>
              </a:ext>
            </a:extLst>
          </p:cNvPr>
          <p:cNvSpPr/>
          <p:nvPr/>
        </p:nvSpPr>
        <p:spPr>
          <a:xfrm>
            <a:off x="9798808" y="2006939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OS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3A22A073-B6CC-1C29-21D0-90F2F8FD7654}"/>
              </a:ext>
            </a:extLst>
          </p:cNvPr>
          <p:cNvGrpSpPr/>
          <p:nvPr/>
        </p:nvGrpSpPr>
        <p:grpSpPr>
          <a:xfrm>
            <a:off x="9225023" y="2465408"/>
            <a:ext cx="1588275" cy="1643605"/>
            <a:chOff x="9225023" y="2465408"/>
            <a:chExt cx="1588275" cy="1643605"/>
          </a:xfrm>
        </p:grpSpPr>
        <p:sp>
          <p:nvSpPr>
            <p:cNvPr id="117" name="Forme libre : forme 116">
              <a:extLst>
                <a:ext uri="{FF2B5EF4-FFF2-40B4-BE49-F238E27FC236}">
                  <a16:creationId xmlns:a16="http://schemas.microsoft.com/office/drawing/2014/main" id="{54E316A8-B4A4-4EE2-7392-558DFCBEEC7C}"/>
                </a:ext>
              </a:extLst>
            </p:cNvPr>
            <p:cNvSpPr/>
            <p:nvPr/>
          </p:nvSpPr>
          <p:spPr>
            <a:xfrm>
              <a:off x="9225023" y="2465408"/>
              <a:ext cx="333679" cy="1643605"/>
            </a:xfrm>
            <a:custGeom>
              <a:avLst/>
              <a:gdLst>
                <a:gd name="connsiteX0" fmla="*/ 0 w 333679"/>
                <a:gd name="connsiteY0" fmla="*/ 1643605 h 1643605"/>
                <a:gd name="connsiteX1" fmla="*/ 162045 w 333679"/>
                <a:gd name="connsiteY1" fmla="*/ 1099595 h 1643605"/>
                <a:gd name="connsiteX2" fmla="*/ 324091 w 333679"/>
                <a:gd name="connsiteY2" fmla="*/ 300941 h 1643605"/>
                <a:gd name="connsiteX3" fmla="*/ 300942 w 333679"/>
                <a:gd name="connsiteY3" fmla="*/ 0 h 164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679" h="1643605">
                  <a:moveTo>
                    <a:pt x="0" y="1643605"/>
                  </a:moveTo>
                  <a:cubicBezTo>
                    <a:pt x="54015" y="1483488"/>
                    <a:pt x="108030" y="1323372"/>
                    <a:pt x="162045" y="1099595"/>
                  </a:cubicBezTo>
                  <a:cubicBezTo>
                    <a:pt x="216060" y="875818"/>
                    <a:pt x="300942" y="484207"/>
                    <a:pt x="324091" y="300941"/>
                  </a:cubicBezTo>
                  <a:cubicBezTo>
                    <a:pt x="347240" y="117675"/>
                    <a:pt x="324091" y="58837"/>
                    <a:pt x="300942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ZoneTexte 118">
              <a:extLst>
                <a:ext uri="{FF2B5EF4-FFF2-40B4-BE49-F238E27FC236}">
                  <a16:creationId xmlns:a16="http://schemas.microsoft.com/office/drawing/2014/main" id="{59A138FC-3B36-A835-3155-50B60B06D8AA}"/>
                </a:ext>
              </a:extLst>
            </p:cNvPr>
            <p:cNvSpPr txBox="1"/>
            <p:nvPr/>
          </p:nvSpPr>
          <p:spPr>
            <a:xfrm>
              <a:off x="9488896" y="3169622"/>
              <a:ext cx="132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gency FB" panose="020B0503020202020204" pitchFamily="34" charset="0"/>
                </a:rPr>
                <a:t>Saved in log file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284D287A-930C-AB09-5E7B-7C13F05DDD3C}"/>
              </a:ext>
            </a:extLst>
          </p:cNvPr>
          <p:cNvGrpSpPr/>
          <p:nvPr/>
        </p:nvGrpSpPr>
        <p:grpSpPr>
          <a:xfrm>
            <a:off x="7110922" y="5216418"/>
            <a:ext cx="3577621" cy="1029220"/>
            <a:chOff x="7110922" y="5216418"/>
            <a:chExt cx="3577621" cy="1029220"/>
          </a:xfrm>
        </p:grpSpPr>
        <p:sp>
          <p:nvSpPr>
            <p:cNvPr id="120" name="Flèche : bas 119">
              <a:extLst>
                <a:ext uri="{FF2B5EF4-FFF2-40B4-BE49-F238E27FC236}">
                  <a16:creationId xmlns:a16="http://schemas.microsoft.com/office/drawing/2014/main" id="{BA97AC0C-58F3-B649-0D03-E508F312DB93}"/>
                </a:ext>
              </a:extLst>
            </p:cNvPr>
            <p:cNvSpPr/>
            <p:nvPr/>
          </p:nvSpPr>
          <p:spPr>
            <a:xfrm>
              <a:off x="8709957" y="5216418"/>
              <a:ext cx="418610" cy="51726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87017C91-154A-B64E-950A-E208359A35A1}"/>
                </a:ext>
              </a:extLst>
            </p:cNvPr>
            <p:cNvGrpSpPr/>
            <p:nvPr/>
          </p:nvGrpSpPr>
          <p:grpSpPr>
            <a:xfrm>
              <a:off x="7110922" y="5793939"/>
              <a:ext cx="3577621" cy="451699"/>
              <a:chOff x="0" y="225849"/>
              <a:chExt cx="3577621" cy="451699"/>
            </a:xfrm>
          </p:grpSpPr>
          <p:sp>
            <p:nvSpPr>
              <p:cNvPr id="122" name="Rectangle : coins arrondis 121">
                <a:extLst>
                  <a:ext uri="{FF2B5EF4-FFF2-40B4-BE49-F238E27FC236}">
                    <a16:creationId xmlns:a16="http://schemas.microsoft.com/office/drawing/2014/main" id="{3EEC5B67-CF46-E34E-D627-C6D645EA7415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3" name="Rectangle : coins arrondis 4">
                <a:extLst>
                  <a:ext uri="{FF2B5EF4-FFF2-40B4-BE49-F238E27FC236}">
                    <a16:creationId xmlns:a16="http://schemas.microsoft.com/office/drawing/2014/main" id="{315AC541-381B-FE84-FAC1-BAA377664D98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 err="1">
                    <a:latin typeface="Agency FB" panose="020B0503020202020204" pitchFamily="34" charset="0"/>
                  </a:rPr>
                  <a:t>Suscriber</a:t>
                </a:r>
                <a:r>
                  <a:rPr lang="en-GB" sz="2400" kern="1200" dirty="0">
                    <a:latin typeface="Agency FB" panose="020B0503020202020204" pitchFamily="34" charset="0"/>
                  </a:rPr>
                  <a:t> ESP32</a:t>
                </a:r>
              </a:p>
            </p:txBody>
          </p:sp>
        </p:grp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B4BC118A-15EA-3687-0275-311C8C8CB618}"/>
              </a:ext>
            </a:extLst>
          </p:cNvPr>
          <p:cNvSpPr txBox="1"/>
          <p:nvPr/>
        </p:nvSpPr>
        <p:spPr>
          <a:xfrm>
            <a:off x="4249970" y="130741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gency FB" panose="020B0503020202020204" pitchFamily="34" charset="0"/>
              </a:rPr>
              <a:t>Rate Limit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78FDCB6D-F92A-3813-DE8F-67A629F30883}"/>
              </a:ext>
            </a:extLst>
          </p:cNvPr>
          <p:cNvSpPr/>
          <p:nvPr/>
        </p:nvSpPr>
        <p:spPr>
          <a:xfrm>
            <a:off x="4748645" y="1662545"/>
            <a:ext cx="73031" cy="353291"/>
          </a:xfrm>
          <a:custGeom>
            <a:avLst/>
            <a:gdLst>
              <a:gd name="connsiteX0" fmla="*/ 20782 w 73031"/>
              <a:gd name="connsiteY0" fmla="*/ 0 h 353291"/>
              <a:gd name="connsiteX1" fmla="*/ 72737 w 73031"/>
              <a:gd name="connsiteY1" fmla="*/ 135082 h 353291"/>
              <a:gd name="connsiteX2" fmla="*/ 0 w 73031"/>
              <a:gd name="connsiteY2" fmla="*/ 353291 h 353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31" h="353291">
                <a:moveTo>
                  <a:pt x="20782" y="0"/>
                </a:moveTo>
                <a:cubicBezTo>
                  <a:pt x="48491" y="38100"/>
                  <a:pt x="76201" y="76200"/>
                  <a:pt x="72737" y="135082"/>
                </a:cubicBezTo>
                <a:cubicBezTo>
                  <a:pt x="69273" y="193964"/>
                  <a:pt x="34636" y="273627"/>
                  <a:pt x="0" y="353291"/>
                </a:cubicBezTo>
              </a:path>
            </a:pathLst>
          </a:custGeom>
          <a:noFill/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093E6013-0942-A820-08F3-2F55B6C2CF12}"/>
              </a:ext>
            </a:extLst>
          </p:cNvPr>
          <p:cNvGrpSpPr/>
          <p:nvPr/>
        </p:nvGrpSpPr>
        <p:grpSpPr>
          <a:xfrm>
            <a:off x="1063457" y="1713845"/>
            <a:ext cx="1265349" cy="250794"/>
            <a:chOff x="1063457" y="1713845"/>
            <a:chExt cx="1265349" cy="25079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74F6C5-FBFA-1147-F877-CBC83AB3E460}"/>
                </a:ext>
              </a:extLst>
            </p:cNvPr>
            <p:cNvSpPr/>
            <p:nvPr/>
          </p:nvSpPr>
          <p:spPr>
            <a:xfrm>
              <a:off x="1472279" y="1713845"/>
              <a:ext cx="856527" cy="25079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E65DFBDA-FD79-0FE3-F1F0-9F5DB15ACED5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1063457" y="1839242"/>
              <a:ext cx="408822" cy="103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F855B93B-A5DE-59C2-4E3E-DBCD276EC97D}"/>
              </a:ext>
            </a:extLst>
          </p:cNvPr>
          <p:cNvSpPr txBox="1"/>
          <p:nvPr/>
        </p:nvSpPr>
        <p:spPr>
          <a:xfrm>
            <a:off x="8079265" y="624563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gency FB" panose="020B0503020202020204" pitchFamily="34" charset="0"/>
              </a:rPr>
              <a:t>*Quiet mode if too much attacks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046B77D-8520-B54A-D6DB-67CBB9165F5A}"/>
              </a:ext>
            </a:extLst>
          </p:cNvPr>
          <p:cNvSpPr txBox="1"/>
          <p:nvPr/>
        </p:nvSpPr>
        <p:spPr>
          <a:xfrm>
            <a:off x="4990444" y="2235007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Agency FB" panose="020B0503020202020204" pitchFamily="34" charset="0"/>
              </a:rPr>
              <a:t>PORT KNOCKING ?</a:t>
            </a:r>
          </a:p>
        </p:txBody>
      </p:sp>
    </p:spTree>
    <p:extLst>
      <p:ext uri="{BB962C8B-B14F-4D97-AF65-F5344CB8AC3E}">
        <p14:creationId xmlns:p14="http://schemas.microsoft.com/office/powerpoint/2010/main" val="349859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" grpId="0">
        <p:bldAsOne/>
      </p:bldGraphic>
      <p:bldP spid="39" grpId="0" animBg="1"/>
      <p:bldP spid="40" grpId="0" animBg="1"/>
      <p:bldP spid="89" grpId="0" animBg="1"/>
      <p:bldP spid="116" grpId="0" animBg="1"/>
      <p:bldP spid="9" grpId="0"/>
      <p:bldP spid="13" grpId="0" animBg="1"/>
      <p:bldP spid="20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810A-4A4E-2329-3A6A-3A36818B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F4A60E-10CC-57EF-7F00-E0BBD7058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660C80D-65BB-6A10-FEF1-CA87B4D4C9E7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454547F0-7E09-0FBB-A0E3-7EC8A91A8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9FEDDED9-149D-8608-E051-B9CBF3EBE7C4}"/>
              </a:ext>
            </a:extLst>
          </p:cNvPr>
          <p:cNvGrpSpPr/>
          <p:nvPr/>
        </p:nvGrpSpPr>
        <p:grpSpPr>
          <a:xfrm>
            <a:off x="1258927" y="1226282"/>
            <a:ext cx="9405197" cy="3104030"/>
            <a:chOff x="1254868" y="1529657"/>
            <a:chExt cx="9405197" cy="3104030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66954DB9-5FEA-7BDE-CF78-0040D2E14BD4}"/>
                </a:ext>
              </a:extLst>
            </p:cNvPr>
            <p:cNvGrpSpPr/>
            <p:nvPr/>
          </p:nvGrpSpPr>
          <p:grpSpPr>
            <a:xfrm>
              <a:off x="1254868" y="2276272"/>
              <a:ext cx="9405197" cy="2305456"/>
              <a:chOff x="1254868" y="2276272"/>
              <a:chExt cx="9405197" cy="2305456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C6330DC8-AE8F-6266-8A2C-DD0737857D94}"/>
                  </a:ext>
                </a:extLst>
              </p:cNvPr>
              <p:cNvSpPr/>
              <p:nvPr/>
            </p:nvSpPr>
            <p:spPr>
              <a:xfrm>
                <a:off x="1254868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Publisher</a:t>
                </a:r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E86BF207-8F80-CE89-5605-F975A90B8E1C}"/>
                  </a:ext>
                </a:extLst>
              </p:cNvPr>
              <p:cNvSpPr/>
              <p:nvPr/>
            </p:nvSpPr>
            <p:spPr>
              <a:xfrm>
                <a:off x="9016090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Suscriber</a:t>
                </a:r>
                <a:endParaRPr lang="en-GB" dirty="0"/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0E9DC71D-61BA-F86E-2B65-FE48A74196CB}"/>
                  </a:ext>
                </a:extLst>
              </p:cNvPr>
              <p:cNvSpPr/>
              <p:nvPr/>
            </p:nvSpPr>
            <p:spPr>
              <a:xfrm>
                <a:off x="4742236" y="2276272"/>
                <a:ext cx="2305456" cy="230545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MQTT Broker</a:t>
                </a:r>
              </a:p>
            </p:txBody>
          </p:sp>
          <p:sp>
            <p:nvSpPr>
              <p:cNvPr id="9" name="Flèche : droite 8">
                <a:extLst>
                  <a:ext uri="{FF2B5EF4-FFF2-40B4-BE49-F238E27FC236}">
                    <a16:creationId xmlns:a16="http://schemas.microsoft.com/office/drawing/2014/main" id="{966FAB58-99A6-FA60-666C-D7EEAEDCC450}"/>
                  </a:ext>
                </a:extLst>
              </p:cNvPr>
              <p:cNvSpPr/>
              <p:nvPr/>
            </p:nvSpPr>
            <p:spPr>
              <a:xfrm>
                <a:off x="3032595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58BC695B-9641-82F4-4733-52F2AD5222A3}"/>
                  </a:ext>
                </a:extLst>
              </p:cNvPr>
              <p:cNvSpPr/>
              <p:nvPr/>
            </p:nvSpPr>
            <p:spPr>
              <a:xfrm>
                <a:off x="7267054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1080000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4B30A7B-5D4D-16D9-C7EB-04FB81B88D6D}"/>
                </a:ext>
              </a:extLst>
            </p:cNvPr>
            <p:cNvSpPr/>
            <p:nvPr/>
          </p:nvSpPr>
          <p:spPr>
            <a:xfrm>
              <a:off x="4698504" y="2233939"/>
              <a:ext cx="2399748" cy="2399748"/>
            </a:xfrm>
            <a:prstGeom prst="ellipse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2D3A1C2D-3AA5-4587-A4A6-531FCF2D031D}"/>
                </a:ext>
              </a:extLst>
            </p:cNvPr>
            <p:cNvSpPr txBox="1"/>
            <p:nvPr/>
          </p:nvSpPr>
          <p:spPr>
            <a:xfrm>
              <a:off x="4871485" y="1529657"/>
              <a:ext cx="19271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Trust Boundary</a:t>
              </a:r>
              <a:b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Computer</a:t>
              </a:r>
            </a:p>
          </p:txBody>
        </p:sp>
      </p:grp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34F11C86-6DEA-3282-C080-CC109F630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11931"/>
              </p:ext>
            </p:extLst>
          </p:nvPr>
        </p:nvGraphicFramePr>
        <p:xfrm>
          <a:off x="1177262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F881795A-7D79-86E1-10A2-D030E8E113EB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14CB30F1-88D1-BA10-DB33-BED68CB0B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885481"/>
              </p:ext>
            </p:extLst>
          </p:nvPr>
        </p:nvGraphicFramePr>
        <p:xfrm>
          <a:off x="4995371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A8FE34DD-9F2B-D40A-9E63-1D28A2E20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487294"/>
              </p:ext>
            </p:extLst>
          </p:nvPr>
        </p:nvGraphicFramePr>
        <p:xfrm>
          <a:off x="8938484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C4697F83-1EE2-6DDA-9816-61B05E30BB44}"/>
              </a:ext>
            </a:extLst>
          </p:cNvPr>
          <p:cNvSpPr txBox="1"/>
          <p:nvPr/>
        </p:nvSpPr>
        <p:spPr>
          <a:xfrm>
            <a:off x="359924" y="18771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LVL 1 DIAGRAM FLOW</a:t>
            </a:r>
          </a:p>
        </p:txBody>
      </p:sp>
    </p:spTree>
    <p:extLst>
      <p:ext uri="{BB962C8B-B14F-4D97-AF65-F5344CB8AC3E}">
        <p14:creationId xmlns:p14="http://schemas.microsoft.com/office/powerpoint/2010/main" val="3059456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ED94-CEB1-DFCB-8CA9-17650103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CE84F-1DDF-6E90-9945-B03B626C8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C652501-DCB9-CDF1-BF21-AC61BC5BC12C}"/>
              </a:ext>
            </a:extLst>
          </p:cNvPr>
          <p:cNvSpPr txBox="1"/>
          <p:nvPr/>
        </p:nvSpPr>
        <p:spPr>
          <a:xfrm>
            <a:off x="359924" y="1532564"/>
            <a:ext cx="2635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Additional Features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6B518756-1601-5FB9-8E40-A06B1D709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31A9B320-A3E1-7664-0D63-6E66648E5111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253D7594-6414-913B-FA2D-A9314CB06FBB}"/>
              </a:ext>
            </a:extLst>
          </p:cNvPr>
          <p:cNvSpPr txBox="1"/>
          <p:nvPr/>
        </p:nvSpPr>
        <p:spPr>
          <a:xfrm>
            <a:off x="359924" y="2238956"/>
            <a:ext cx="50754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Dashboard with decrypted message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Attack detection and display on dashboard</a:t>
            </a:r>
          </a:p>
        </p:txBody>
      </p:sp>
    </p:spTree>
    <p:extLst>
      <p:ext uri="{BB962C8B-B14F-4D97-AF65-F5344CB8AC3E}">
        <p14:creationId xmlns:p14="http://schemas.microsoft.com/office/powerpoint/2010/main" val="3782916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0B4ED3-8EDF-B6DA-2E1D-B578ACD80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70" y="1542955"/>
            <a:ext cx="7781925" cy="50292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3C14C7F-DC51-EC71-BC90-FA4FBB9FEA16}"/>
              </a:ext>
            </a:extLst>
          </p:cNvPr>
          <p:cNvSpPr txBox="1">
            <a:spLocks/>
          </p:cNvSpPr>
          <p:nvPr/>
        </p:nvSpPr>
        <p:spPr>
          <a:xfrm>
            <a:off x="221815" y="175098"/>
            <a:ext cx="6709185" cy="10511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/>
            </a:br>
            <a:r>
              <a:rPr lang="en-GB" sz="3200"/>
              <a:t>ESP32 Project</a:t>
            </a:r>
            <a:endParaRPr lang="en-GB" sz="28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5AA0BA-30B4-D03B-654A-2902C60A20F1}"/>
              </a:ext>
            </a:extLst>
          </p:cNvPr>
          <p:cNvSpPr txBox="1"/>
          <p:nvPr/>
        </p:nvSpPr>
        <p:spPr>
          <a:xfrm>
            <a:off x="7528205" y="1026227"/>
            <a:ext cx="158569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2000" b="1" dirty="0" err="1">
                <a:solidFill>
                  <a:schemeClr val="bg1"/>
                </a:solidFill>
              </a:rPr>
              <a:t>WebServer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0720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2103</TotalTime>
  <Words>677</Words>
  <Application>Microsoft Office PowerPoint</Application>
  <PresentationFormat>Grand écran</PresentationFormat>
  <Paragraphs>217</Paragraphs>
  <Slides>11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Agency FB</vt:lpstr>
      <vt:lpstr>Aptos</vt:lpstr>
      <vt:lpstr>Arial</vt:lpstr>
      <vt:lpstr>Courier New</vt:lpstr>
      <vt:lpstr>Neue Haas Grotesk Text Pro</vt:lpstr>
      <vt:lpstr>VanillaVTI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ARICO Amaury</dc:creator>
  <cp:lastModifiedBy>ARICO Amaury</cp:lastModifiedBy>
  <cp:revision>50</cp:revision>
  <dcterms:created xsi:type="dcterms:W3CDTF">2025-10-23T13:44:02Z</dcterms:created>
  <dcterms:modified xsi:type="dcterms:W3CDTF">2025-11-26T17:17:44Z</dcterms:modified>
</cp:coreProperties>
</file>