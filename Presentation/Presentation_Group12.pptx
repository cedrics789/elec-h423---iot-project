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5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6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</p:sldMasterIdLst>
  <p:notesMasterIdLst>
    <p:notesMasterId r:id="rId18"/>
  </p:notesMasterIdLst>
  <p:sldIdLst>
    <p:sldId id="256" r:id="rId2"/>
    <p:sldId id="257" r:id="rId3"/>
    <p:sldId id="275" r:id="rId4"/>
    <p:sldId id="276" r:id="rId5"/>
    <p:sldId id="258" r:id="rId6"/>
    <p:sldId id="264" r:id="rId7"/>
    <p:sldId id="265" r:id="rId8"/>
    <p:sldId id="267" r:id="rId9"/>
    <p:sldId id="268" r:id="rId10"/>
    <p:sldId id="266" r:id="rId11"/>
    <p:sldId id="269" r:id="rId12"/>
    <p:sldId id="278" r:id="rId13"/>
    <p:sldId id="277" r:id="rId14"/>
    <p:sldId id="273" r:id="rId15"/>
    <p:sldId id="270" r:id="rId16"/>
    <p:sldId id="271" r:id="rId1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Presentation agenda" id="{10CEBCA2-2641-46FF-B01C-4CAE40BD6490}">
          <p14:sldIdLst>
            <p14:sldId id="256"/>
            <p14:sldId id="257"/>
          </p14:sldIdLst>
        </p14:section>
        <p14:section name="Introduction (Yuta)" id="{68C1FDE7-69C3-46BD-8AF7-1422FA762744}">
          <p14:sldIdLst>
            <p14:sldId id="275"/>
          </p14:sldIdLst>
        </p14:section>
        <p14:section name="Data flow and STRIDE (Loic)" id="{EBAFEC4A-AE3E-4244-A91A-22E33F9D68A6}">
          <p14:sldIdLst>
            <p14:sldId id="276"/>
            <p14:sldId id="258"/>
            <p14:sldId id="264"/>
            <p14:sldId id="265"/>
            <p14:sldId id="267"/>
          </p14:sldIdLst>
        </p14:section>
        <p14:section name="Security Mitigation (Cedric)" id="{8DFBBAA7-B83B-441E-B826-84417B0A4250}">
          <p14:sldIdLst>
            <p14:sldId id="268"/>
            <p14:sldId id="266"/>
            <p14:sldId id="269"/>
          </p14:sldIdLst>
        </p14:section>
        <p14:section name="Security Mitigation end and Discussion" id="{4E9DD217-94F6-4B0E-9BCF-D8A789A16E4A}">
          <p14:sldIdLst>
            <p14:sldId id="278"/>
            <p14:sldId id="277"/>
            <p14:sldId id="273"/>
            <p14:sldId id="270"/>
            <p14:sldId id="27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1871" autoAdjust="0"/>
  </p:normalViewPr>
  <p:slideViewPr>
    <p:cSldViewPr snapToGrid="0">
      <p:cViewPr varScale="1">
        <p:scale>
          <a:sx n="77" d="100"/>
          <a:sy n="77" d="100"/>
        </p:scale>
        <p:origin x="461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BE658EF-1CC7-4D39-9EB3-F1148FDF9289}">
      <dgm:prSet phldrT="[Texte]" phldr="0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Key Plain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F8E54BEB-3256-4E96-9D0C-EC9DACC7B964}" type="pres">
      <dgm:prSet presAssocID="{E5400ADC-7DEF-4386-9712-AC76DB7448FE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941F4C3F-56A6-4DBC-B03A-65B233667FDD}" srcId="{E5400ADC-7DEF-4386-9712-AC76DB7448FE}" destId="{DBE658EF-1CC7-4D39-9EB3-F1148FDF9289}" srcOrd="0" destOrd="0" parTransId="{C521A845-A2A6-4273-8E05-551AF39DCA5D}" sibTransId="{E912C80B-8408-4374-91E7-4193D0FF8016}"/>
    <dgm:cxn modelId="{D3B2A98D-A498-4B33-8834-D92515CC673A}" type="presOf" srcId="{DBE658EF-1CC7-4D39-9EB3-F1148FDF9289}" destId="{F8E54BEB-3256-4E96-9D0C-EC9DACC7B964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A043F72-C946-484C-B4E4-C717B6E55496}" type="presParOf" srcId="{B4D39FF5-DE11-4651-9E15-19C3B7AA385F}" destId="{F8E54BEB-3256-4E96-9D0C-EC9DACC7B96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BE658EF-1CC7-4D39-9EB3-F1148FDF9289}">
      <dgm:prSet phldrT="[Texte]" phldr="0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Key Plain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F8E54BEB-3256-4E96-9D0C-EC9DACC7B964}" type="pres">
      <dgm:prSet presAssocID="{E5400ADC-7DEF-4386-9712-AC76DB7448FE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941F4C3F-56A6-4DBC-B03A-65B233667FDD}" srcId="{E5400ADC-7DEF-4386-9712-AC76DB7448FE}" destId="{DBE658EF-1CC7-4D39-9EB3-F1148FDF9289}" srcOrd="0" destOrd="0" parTransId="{C521A845-A2A6-4273-8E05-551AF39DCA5D}" sibTransId="{E912C80B-8408-4374-91E7-4193D0FF8016}"/>
    <dgm:cxn modelId="{D3B2A98D-A498-4B33-8834-D92515CC673A}" type="presOf" srcId="{DBE658EF-1CC7-4D39-9EB3-F1148FDF9289}" destId="{F8E54BEB-3256-4E96-9D0C-EC9DACC7B964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A043F72-C946-484C-B4E4-C717B6E55496}" type="presParOf" srcId="{B4D39FF5-DE11-4651-9E15-19C3B7AA385F}" destId="{F8E54BEB-3256-4E96-9D0C-EC9DACC7B96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420689E-D9C3-4891-9EF3-77150B19772B}">
      <dgm:prSet phldrT="[Texte]" phldr="0" custT="1"/>
      <dgm:spPr/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PBKDF2 [Morse, Pub. Code]</a:t>
          </a:r>
        </a:p>
      </dgm:t>
    </dgm:pt>
    <dgm:pt modelId="{7EF9EDC2-A4E3-4F41-A159-2622E8D33AA7}" type="parTrans" cxnId="{F164831A-FCF3-4F7D-B032-E81F2A8C21F5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844626B-F3A6-4422-9AA3-B70CC4B793DD}" type="sibTrans" cxnId="{F164831A-FCF3-4F7D-B032-E81F2A8C21F5}">
      <dgm:prSet custT="1"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ADC53070-0462-4D4E-B5F4-25066B89E517}">
      <dgm:prSet phldrT="[Texte]" phldr="0" custT="1"/>
      <dgm:spPr>
        <a:solidFill>
          <a:schemeClr val="bg2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Key User</a:t>
          </a:r>
        </a:p>
      </dgm:t>
    </dgm:pt>
    <dgm:pt modelId="{EDB8A2D6-3323-427D-A245-368EC38BA011}" type="parTrans" cxnId="{E2DD5CF4-61F8-4400-8992-BED6E258A5BC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5AB9B725-D337-4E05-9F0D-07B536AEC986}" type="sibTrans" cxnId="{E2DD5CF4-61F8-4400-8992-BED6E258A5BC}">
      <dgm:prSet custT="1"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DBE658EF-1CC7-4D39-9EB3-F1148FDF9289}">
      <dgm:prSet phldrT="[Texte]" phldr="0" custT="1"/>
      <dgm:spPr/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AES[Key Plain, Key user]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7624D77B-2EE6-4BFF-8352-C7BA36E2C6F9}" type="pres">
      <dgm:prSet presAssocID="{E5400ADC-7DEF-4386-9712-AC76DB7448FE}" presName="ThreeNodes_1" presStyleLbl="node1" presStyleIdx="0" presStyleCnt="3" custLinFactNeighborX="1098" custLinFactNeighborY="-997">
        <dgm:presLayoutVars>
          <dgm:bulletEnabled val="1"/>
        </dgm:presLayoutVars>
      </dgm:prSet>
      <dgm:spPr/>
    </dgm:pt>
    <dgm:pt modelId="{12622EC1-1261-460F-983E-E1325C452611}" type="pres">
      <dgm:prSet presAssocID="{E5400ADC-7DEF-4386-9712-AC76DB7448FE}" presName="ThreeNodes_2" presStyleLbl="node1" presStyleIdx="1" presStyleCnt="3">
        <dgm:presLayoutVars>
          <dgm:bulletEnabled val="1"/>
        </dgm:presLayoutVars>
      </dgm:prSet>
      <dgm:spPr/>
    </dgm:pt>
    <dgm:pt modelId="{E31F873F-29E8-4E19-A01E-5A3E10B4599B}" type="pres">
      <dgm:prSet presAssocID="{E5400ADC-7DEF-4386-9712-AC76DB7448FE}" presName="ThreeNodes_3" presStyleLbl="node1" presStyleIdx="2" presStyleCnt="3">
        <dgm:presLayoutVars>
          <dgm:bulletEnabled val="1"/>
        </dgm:presLayoutVars>
      </dgm:prSet>
      <dgm:spPr/>
    </dgm:pt>
    <dgm:pt modelId="{8905544A-A06F-42C9-B1CE-DFA6EFDC6D37}" type="pres">
      <dgm:prSet presAssocID="{E5400ADC-7DEF-4386-9712-AC76DB7448FE}" presName="ThreeConn_1-2" presStyleLbl="fgAccFollowNode1" presStyleIdx="0" presStyleCnt="2">
        <dgm:presLayoutVars>
          <dgm:bulletEnabled val="1"/>
        </dgm:presLayoutVars>
      </dgm:prSet>
      <dgm:spPr/>
    </dgm:pt>
    <dgm:pt modelId="{C099FC2B-B211-412A-967B-E7BBA69B720D}" type="pres">
      <dgm:prSet presAssocID="{E5400ADC-7DEF-4386-9712-AC76DB7448FE}" presName="ThreeConn_2-3" presStyleLbl="fgAccFollowNode1" presStyleIdx="1" presStyleCnt="2">
        <dgm:presLayoutVars>
          <dgm:bulletEnabled val="1"/>
        </dgm:presLayoutVars>
      </dgm:prSet>
      <dgm:spPr/>
    </dgm:pt>
    <dgm:pt modelId="{178144C9-6752-4678-AB8E-7D84882DCCF7}" type="pres">
      <dgm:prSet presAssocID="{E5400ADC-7DEF-4386-9712-AC76DB7448FE}" presName="ThreeNodes_1_text" presStyleLbl="node1" presStyleIdx="2" presStyleCnt="3">
        <dgm:presLayoutVars>
          <dgm:bulletEnabled val="1"/>
        </dgm:presLayoutVars>
      </dgm:prSet>
      <dgm:spPr/>
    </dgm:pt>
    <dgm:pt modelId="{58404E1A-510A-4115-AB4C-9D57E85E90E4}" type="pres">
      <dgm:prSet presAssocID="{E5400ADC-7DEF-4386-9712-AC76DB7448FE}" presName="ThreeNodes_2_text" presStyleLbl="node1" presStyleIdx="2" presStyleCnt="3">
        <dgm:presLayoutVars>
          <dgm:bulletEnabled val="1"/>
        </dgm:presLayoutVars>
      </dgm:prSet>
      <dgm:spPr/>
    </dgm:pt>
    <dgm:pt modelId="{23D663AC-BE75-4301-8A09-4B1A7E62B33C}" type="pres">
      <dgm:prSet presAssocID="{E5400ADC-7DEF-4386-9712-AC76DB7448F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164831A-FCF3-4F7D-B032-E81F2A8C21F5}" srcId="{E5400ADC-7DEF-4386-9712-AC76DB7448FE}" destId="{B420689E-D9C3-4891-9EF3-77150B19772B}" srcOrd="0" destOrd="0" parTransId="{7EF9EDC2-A4E3-4F41-A159-2622E8D33AA7}" sibTransId="{E844626B-F3A6-4422-9AA3-B70CC4B793DD}"/>
    <dgm:cxn modelId="{0DCD8637-1F1E-4A59-9FFB-5A941EAA2196}" type="presOf" srcId="{B420689E-D9C3-4891-9EF3-77150B19772B}" destId="{7624D77B-2EE6-4BFF-8352-C7BA36E2C6F9}" srcOrd="0" destOrd="0" presId="urn:microsoft.com/office/officeart/2005/8/layout/vProcess5"/>
    <dgm:cxn modelId="{941F4C3F-56A6-4DBC-B03A-65B233667FDD}" srcId="{E5400ADC-7DEF-4386-9712-AC76DB7448FE}" destId="{DBE658EF-1CC7-4D39-9EB3-F1148FDF9289}" srcOrd="2" destOrd="0" parTransId="{C521A845-A2A6-4273-8E05-551AF39DCA5D}" sibTransId="{E912C80B-8408-4374-91E7-4193D0FF8016}"/>
    <dgm:cxn modelId="{F7242E67-D65D-4128-8ED2-FA4746F50D29}" type="presOf" srcId="{B420689E-D9C3-4891-9EF3-77150B19772B}" destId="{178144C9-6752-4678-AB8E-7D84882DCCF7}" srcOrd="1" destOrd="0" presId="urn:microsoft.com/office/officeart/2005/8/layout/vProcess5"/>
    <dgm:cxn modelId="{2B327B68-E348-43E1-AF1D-C01BE7696580}" type="presOf" srcId="{ADC53070-0462-4D4E-B5F4-25066B89E517}" destId="{12622EC1-1261-460F-983E-E1325C452611}" srcOrd="0" destOrd="0" presId="urn:microsoft.com/office/officeart/2005/8/layout/vProcess5"/>
    <dgm:cxn modelId="{3E2CBF74-1809-4660-B729-77A82C1C7449}" type="presOf" srcId="{E844626B-F3A6-4422-9AA3-B70CC4B793DD}" destId="{8905544A-A06F-42C9-B1CE-DFA6EFDC6D37}" srcOrd="0" destOrd="0" presId="urn:microsoft.com/office/officeart/2005/8/layout/vProcess5"/>
    <dgm:cxn modelId="{D4743276-1776-44CF-860C-F6C9FC46EBD2}" type="presOf" srcId="{5AB9B725-D337-4E05-9F0D-07B536AEC986}" destId="{C099FC2B-B211-412A-967B-E7BBA69B720D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29619AA7-D0D7-47DB-AD09-A46D803335D8}" type="presOf" srcId="{DBE658EF-1CC7-4D39-9EB3-F1148FDF9289}" destId="{23D663AC-BE75-4301-8A09-4B1A7E62B33C}" srcOrd="1" destOrd="0" presId="urn:microsoft.com/office/officeart/2005/8/layout/vProcess5"/>
    <dgm:cxn modelId="{950729B0-0AF3-4DF7-A1B6-3362189FAB2B}" type="presOf" srcId="{ADC53070-0462-4D4E-B5F4-25066B89E517}" destId="{58404E1A-510A-4115-AB4C-9D57E85E90E4}" srcOrd="1" destOrd="0" presId="urn:microsoft.com/office/officeart/2005/8/layout/vProcess5"/>
    <dgm:cxn modelId="{6817B5E3-0DAC-4748-9DAA-D9B21CE762B5}" type="presOf" srcId="{DBE658EF-1CC7-4D39-9EB3-F1148FDF9289}" destId="{E31F873F-29E8-4E19-A01E-5A3E10B4599B}" srcOrd="0" destOrd="0" presId="urn:microsoft.com/office/officeart/2005/8/layout/vProcess5"/>
    <dgm:cxn modelId="{E2DD5CF4-61F8-4400-8992-BED6E258A5BC}" srcId="{E5400ADC-7DEF-4386-9712-AC76DB7448FE}" destId="{ADC53070-0462-4D4E-B5F4-25066B89E517}" srcOrd="1" destOrd="0" parTransId="{EDB8A2D6-3323-427D-A245-368EC38BA011}" sibTransId="{5AB9B725-D337-4E05-9F0D-07B536AEC986}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508431E-2513-4237-BEF2-495FFBFAD91B}" type="presParOf" srcId="{B4D39FF5-DE11-4651-9E15-19C3B7AA385F}" destId="{7624D77B-2EE6-4BFF-8352-C7BA36E2C6F9}" srcOrd="1" destOrd="0" presId="urn:microsoft.com/office/officeart/2005/8/layout/vProcess5"/>
    <dgm:cxn modelId="{6C6F7660-1160-427D-BAD3-CB20EDA10CDF}" type="presParOf" srcId="{B4D39FF5-DE11-4651-9E15-19C3B7AA385F}" destId="{12622EC1-1261-460F-983E-E1325C452611}" srcOrd="2" destOrd="0" presId="urn:microsoft.com/office/officeart/2005/8/layout/vProcess5"/>
    <dgm:cxn modelId="{5842423A-7F02-4B12-98DB-977411CB9CC7}" type="presParOf" srcId="{B4D39FF5-DE11-4651-9E15-19C3B7AA385F}" destId="{E31F873F-29E8-4E19-A01E-5A3E10B4599B}" srcOrd="3" destOrd="0" presId="urn:microsoft.com/office/officeart/2005/8/layout/vProcess5"/>
    <dgm:cxn modelId="{BA34520A-F1C2-46EB-A73F-B695907CCDD1}" type="presParOf" srcId="{B4D39FF5-DE11-4651-9E15-19C3B7AA385F}" destId="{8905544A-A06F-42C9-B1CE-DFA6EFDC6D37}" srcOrd="4" destOrd="0" presId="urn:microsoft.com/office/officeart/2005/8/layout/vProcess5"/>
    <dgm:cxn modelId="{B418E4D9-B81B-4C7E-A42D-D56FC95E941C}" type="presParOf" srcId="{B4D39FF5-DE11-4651-9E15-19C3B7AA385F}" destId="{C099FC2B-B211-412A-967B-E7BBA69B720D}" srcOrd="5" destOrd="0" presId="urn:microsoft.com/office/officeart/2005/8/layout/vProcess5"/>
    <dgm:cxn modelId="{E3EE8DAF-F96D-4B46-9ED8-D876FF5BFB8D}" type="presParOf" srcId="{B4D39FF5-DE11-4651-9E15-19C3B7AA385F}" destId="{178144C9-6752-4678-AB8E-7D84882DCCF7}" srcOrd="6" destOrd="0" presId="urn:microsoft.com/office/officeart/2005/8/layout/vProcess5"/>
    <dgm:cxn modelId="{5AF50FA7-3975-400C-B760-77D1A4CF11D8}" type="presParOf" srcId="{B4D39FF5-DE11-4651-9E15-19C3B7AA385F}" destId="{58404E1A-510A-4115-AB4C-9D57E85E90E4}" srcOrd="7" destOrd="0" presId="urn:microsoft.com/office/officeart/2005/8/layout/vProcess5"/>
    <dgm:cxn modelId="{5F6F15FA-431A-4CD2-B945-AA05DB0AE501}" type="presParOf" srcId="{B4D39FF5-DE11-4651-9E15-19C3B7AA385F}" destId="{23D663AC-BE75-4301-8A09-4B1A7E62B33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DBE658EF-1CC7-4D39-9EB3-F1148FDF9289}">
      <dgm:prSet phldrT="[Texte]" phldr="0" custT="1"/>
      <dgm:spPr>
        <a:solidFill>
          <a:schemeClr val="accent3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Dec [Key user, Key enc]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F8E54BEB-3256-4E96-9D0C-EC9DACC7B964}" type="pres">
      <dgm:prSet presAssocID="{E5400ADC-7DEF-4386-9712-AC76DB7448FE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941F4C3F-56A6-4DBC-B03A-65B233667FDD}" srcId="{E5400ADC-7DEF-4386-9712-AC76DB7448FE}" destId="{DBE658EF-1CC7-4D39-9EB3-F1148FDF9289}" srcOrd="0" destOrd="0" parTransId="{C521A845-A2A6-4273-8E05-551AF39DCA5D}" sibTransId="{E912C80B-8408-4374-91E7-4193D0FF8016}"/>
    <dgm:cxn modelId="{D3B2A98D-A498-4B33-8834-D92515CC673A}" type="presOf" srcId="{DBE658EF-1CC7-4D39-9EB3-F1148FDF9289}" destId="{F8E54BEB-3256-4E96-9D0C-EC9DACC7B964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A043F72-C946-484C-B4E4-C717B6E55496}" type="presParOf" srcId="{B4D39FF5-DE11-4651-9E15-19C3B7AA385F}" destId="{F8E54BEB-3256-4E96-9D0C-EC9DACC7B96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12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E5400ADC-7DEF-4386-9712-AC76DB7448FE}" type="doc">
      <dgm:prSet loTypeId="urn:microsoft.com/office/officeart/2005/8/layout/v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B420689E-D9C3-4891-9EF3-77150B19772B}">
      <dgm:prSet phldrT="[Texte]" phldr="0" custT="1"/>
      <dgm:spPr/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PBKDF2 [Morse, “Salt”]</a:t>
          </a:r>
        </a:p>
      </dgm:t>
    </dgm:pt>
    <dgm:pt modelId="{7EF9EDC2-A4E3-4F41-A159-2622E8D33AA7}" type="parTrans" cxnId="{F164831A-FCF3-4F7D-B032-E81F2A8C21F5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844626B-F3A6-4422-9AA3-B70CC4B793DD}" type="sibTrans" cxnId="{F164831A-FCF3-4F7D-B032-E81F2A8C21F5}">
      <dgm:prSet custT="1"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ADC53070-0462-4D4E-B5F4-25066B89E517}">
      <dgm:prSet phldrT="[Texte]" phldr="0" custT="1"/>
      <dgm:spPr>
        <a:solidFill>
          <a:schemeClr val="bg2">
            <a:lumMod val="75000"/>
          </a:schemeClr>
        </a:solidFill>
      </dgm:spPr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Key User</a:t>
          </a:r>
        </a:p>
      </dgm:t>
    </dgm:pt>
    <dgm:pt modelId="{EDB8A2D6-3323-427D-A245-368EC38BA011}" type="parTrans" cxnId="{E2DD5CF4-61F8-4400-8992-BED6E258A5BC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5AB9B725-D337-4E05-9F0D-07B536AEC986}" type="sibTrans" cxnId="{E2DD5CF4-61F8-4400-8992-BED6E258A5BC}">
      <dgm:prSet custT="1"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DBE658EF-1CC7-4D39-9EB3-F1148FDF9289}">
      <dgm:prSet phldrT="[Texte]" phldr="0" custT="1"/>
      <dgm:spPr/>
      <dgm:t>
        <a:bodyPr/>
        <a:lstStyle/>
        <a:p>
          <a:pPr algn="ctr"/>
          <a:r>
            <a:rPr lang="en-GB" sz="2400" dirty="0">
              <a:latin typeface="Agency FB" panose="020B0503020202020204" pitchFamily="34" charset="0"/>
            </a:rPr>
            <a:t>AES[Key Plain, Key user]</a:t>
          </a:r>
        </a:p>
      </dgm:t>
    </dgm:pt>
    <dgm:pt modelId="{C521A845-A2A6-4273-8E05-551AF39DCA5D}" type="par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E912C80B-8408-4374-91E7-4193D0FF8016}" type="sibTrans" cxnId="{941F4C3F-56A6-4DBC-B03A-65B233667FDD}">
      <dgm:prSet/>
      <dgm:spPr/>
      <dgm:t>
        <a:bodyPr/>
        <a:lstStyle/>
        <a:p>
          <a:pPr algn="ctr"/>
          <a:endParaRPr lang="en-GB" sz="2400">
            <a:latin typeface="Agency FB" panose="020B0503020202020204" pitchFamily="34" charset="0"/>
          </a:endParaRPr>
        </a:p>
      </dgm:t>
    </dgm:pt>
    <dgm:pt modelId="{B4D39FF5-DE11-4651-9E15-19C3B7AA385F}" type="pres">
      <dgm:prSet presAssocID="{E5400ADC-7DEF-4386-9712-AC76DB7448FE}" presName="outerComposite" presStyleCnt="0">
        <dgm:presLayoutVars>
          <dgm:chMax val="5"/>
          <dgm:dir/>
          <dgm:resizeHandles val="exact"/>
        </dgm:presLayoutVars>
      </dgm:prSet>
      <dgm:spPr/>
    </dgm:pt>
    <dgm:pt modelId="{7E3AEEE7-3601-4085-86E2-F53937FE84FA}" type="pres">
      <dgm:prSet presAssocID="{E5400ADC-7DEF-4386-9712-AC76DB7448FE}" presName="dummyMaxCanvas" presStyleCnt="0">
        <dgm:presLayoutVars/>
      </dgm:prSet>
      <dgm:spPr/>
    </dgm:pt>
    <dgm:pt modelId="{7624D77B-2EE6-4BFF-8352-C7BA36E2C6F9}" type="pres">
      <dgm:prSet presAssocID="{E5400ADC-7DEF-4386-9712-AC76DB7448FE}" presName="ThreeNodes_1" presStyleLbl="node1" presStyleIdx="0" presStyleCnt="3" custLinFactNeighborX="1098" custLinFactNeighborY="-997">
        <dgm:presLayoutVars>
          <dgm:bulletEnabled val="1"/>
        </dgm:presLayoutVars>
      </dgm:prSet>
      <dgm:spPr/>
    </dgm:pt>
    <dgm:pt modelId="{12622EC1-1261-460F-983E-E1325C452611}" type="pres">
      <dgm:prSet presAssocID="{E5400ADC-7DEF-4386-9712-AC76DB7448FE}" presName="ThreeNodes_2" presStyleLbl="node1" presStyleIdx="1" presStyleCnt="3">
        <dgm:presLayoutVars>
          <dgm:bulletEnabled val="1"/>
        </dgm:presLayoutVars>
      </dgm:prSet>
      <dgm:spPr/>
    </dgm:pt>
    <dgm:pt modelId="{E31F873F-29E8-4E19-A01E-5A3E10B4599B}" type="pres">
      <dgm:prSet presAssocID="{E5400ADC-7DEF-4386-9712-AC76DB7448FE}" presName="ThreeNodes_3" presStyleLbl="node1" presStyleIdx="2" presStyleCnt="3">
        <dgm:presLayoutVars>
          <dgm:bulletEnabled val="1"/>
        </dgm:presLayoutVars>
      </dgm:prSet>
      <dgm:spPr/>
    </dgm:pt>
    <dgm:pt modelId="{8905544A-A06F-42C9-B1CE-DFA6EFDC6D37}" type="pres">
      <dgm:prSet presAssocID="{E5400ADC-7DEF-4386-9712-AC76DB7448FE}" presName="ThreeConn_1-2" presStyleLbl="fgAccFollowNode1" presStyleIdx="0" presStyleCnt="2">
        <dgm:presLayoutVars>
          <dgm:bulletEnabled val="1"/>
        </dgm:presLayoutVars>
      </dgm:prSet>
      <dgm:spPr/>
    </dgm:pt>
    <dgm:pt modelId="{C099FC2B-B211-412A-967B-E7BBA69B720D}" type="pres">
      <dgm:prSet presAssocID="{E5400ADC-7DEF-4386-9712-AC76DB7448FE}" presName="ThreeConn_2-3" presStyleLbl="fgAccFollowNode1" presStyleIdx="1" presStyleCnt="2">
        <dgm:presLayoutVars>
          <dgm:bulletEnabled val="1"/>
        </dgm:presLayoutVars>
      </dgm:prSet>
      <dgm:spPr/>
    </dgm:pt>
    <dgm:pt modelId="{178144C9-6752-4678-AB8E-7D84882DCCF7}" type="pres">
      <dgm:prSet presAssocID="{E5400ADC-7DEF-4386-9712-AC76DB7448FE}" presName="ThreeNodes_1_text" presStyleLbl="node1" presStyleIdx="2" presStyleCnt="3">
        <dgm:presLayoutVars>
          <dgm:bulletEnabled val="1"/>
        </dgm:presLayoutVars>
      </dgm:prSet>
      <dgm:spPr/>
    </dgm:pt>
    <dgm:pt modelId="{58404E1A-510A-4115-AB4C-9D57E85E90E4}" type="pres">
      <dgm:prSet presAssocID="{E5400ADC-7DEF-4386-9712-AC76DB7448FE}" presName="ThreeNodes_2_text" presStyleLbl="node1" presStyleIdx="2" presStyleCnt="3">
        <dgm:presLayoutVars>
          <dgm:bulletEnabled val="1"/>
        </dgm:presLayoutVars>
      </dgm:prSet>
      <dgm:spPr/>
    </dgm:pt>
    <dgm:pt modelId="{23D663AC-BE75-4301-8A09-4B1A7E62B33C}" type="pres">
      <dgm:prSet presAssocID="{E5400ADC-7DEF-4386-9712-AC76DB7448FE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F164831A-FCF3-4F7D-B032-E81F2A8C21F5}" srcId="{E5400ADC-7DEF-4386-9712-AC76DB7448FE}" destId="{B420689E-D9C3-4891-9EF3-77150B19772B}" srcOrd="0" destOrd="0" parTransId="{7EF9EDC2-A4E3-4F41-A159-2622E8D33AA7}" sibTransId="{E844626B-F3A6-4422-9AA3-B70CC4B793DD}"/>
    <dgm:cxn modelId="{0DCD8637-1F1E-4A59-9FFB-5A941EAA2196}" type="presOf" srcId="{B420689E-D9C3-4891-9EF3-77150B19772B}" destId="{7624D77B-2EE6-4BFF-8352-C7BA36E2C6F9}" srcOrd="0" destOrd="0" presId="urn:microsoft.com/office/officeart/2005/8/layout/vProcess5"/>
    <dgm:cxn modelId="{941F4C3F-56A6-4DBC-B03A-65B233667FDD}" srcId="{E5400ADC-7DEF-4386-9712-AC76DB7448FE}" destId="{DBE658EF-1CC7-4D39-9EB3-F1148FDF9289}" srcOrd="2" destOrd="0" parTransId="{C521A845-A2A6-4273-8E05-551AF39DCA5D}" sibTransId="{E912C80B-8408-4374-91E7-4193D0FF8016}"/>
    <dgm:cxn modelId="{F7242E67-D65D-4128-8ED2-FA4746F50D29}" type="presOf" srcId="{B420689E-D9C3-4891-9EF3-77150B19772B}" destId="{178144C9-6752-4678-AB8E-7D84882DCCF7}" srcOrd="1" destOrd="0" presId="urn:microsoft.com/office/officeart/2005/8/layout/vProcess5"/>
    <dgm:cxn modelId="{2B327B68-E348-43E1-AF1D-C01BE7696580}" type="presOf" srcId="{ADC53070-0462-4D4E-B5F4-25066B89E517}" destId="{12622EC1-1261-460F-983E-E1325C452611}" srcOrd="0" destOrd="0" presId="urn:microsoft.com/office/officeart/2005/8/layout/vProcess5"/>
    <dgm:cxn modelId="{3E2CBF74-1809-4660-B729-77A82C1C7449}" type="presOf" srcId="{E844626B-F3A6-4422-9AA3-B70CC4B793DD}" destId="{8905544A-A06F-42C9-B1CE-DFA6EFDC6D37}" srcOrd="0" destOrd="0" presId="urn:microsoft.com/office/officeart/2005/8/layout/vProcess5"/>
    <dgm:cxn modelId="{D4743276-1776-44CF-860C-F6C9FC46EBD2}" type="presOf" srcId="{5AB9B725-D337-4E05-9F0D-07B536AEC986}" destId="{C099FC2B-B211-412A-967B-E7BBA69B720D}" srcOrd="0" destOrd="0" presId="urn:microsoft.com/office/officeart/2005/8/layout/vProcess5"/>
    <dgm:cxn modelId="{367BBF94-9092-42DC-B734-A856EA608C82}" type="presOf" srcId="{E5400ADC-7DEF-4386-9712-AC76DB7448FE}" destId="{B4D39FF5-DE11-4651-9E15-19C3B7AA385F}" srcOrd="0" destOrd="0" presId="urn:microsoft.com/office/officeart/2005/8/layout/vProcess5"/>
    <dgm:cxn modelId="{29619AA7-D0D7-47DB-AD09-A46D803335D8}" type="presOf" srcId="{DBE658EF-1CC7-4D39-9EB3-F1148FDF9289}" destId="{23D663AC-BE75-4301-8A09-4B1A7E62B33C}" srcOrd="1" destOrd="0" presId="urn:microsoft.com/office/officeart/2005/8/layout/vProcess5"/>
    <dgm:cxn modelId="{950729B0-0AF3-4DF7-A1B6-3362189FAB2B}" type="presOf" srcId="{ADC53070-0462-4D4E-B5F4-25066B89E517}" destId="{58404E1A-510A-4115-AB4C-9D57E85E90E4}" srcOrd="1" destOrd="0" presId="urn:microsoft.com/office/officeart/2005/8/layout/vProcess5"/>
    <dgm:cxn modelId="{6817B5E3-0DAC-4748-9DAA-D9B21CE762B5}" type="presOf" srcId="{DBE658EF-1CC7-4D39-9EB3-F1148FDF9289}" destId="{E31F873F-29E8-4E19-A01E-5A3E10B4599B}" srcOrd="0" destOrd="0" presId="urn:microsoft.com/office/officeart/2005/8/layout/vProcess5"/>
    <dgm:cxn modelId="{E2DD5CF4-61F8-4400-8992-BED6E258A5BC}" srcId="{E5400ADC-7DEF-4386-9712-AC76DB7448FE}" destId="{ADC53070-0462-4D4E-B5F4-25066B89E517}" srcOrd="1" destOrd="0" parTransId="{EDB8A2D6-3323-427D-A245-368EC38BA011}" sibTransId="{5AB9B725-D337-4E05-9F0D-07B536AEC986}"/>
    <dgm:cxn modelId="{0E70D84D-6B75-435E-96CE-69EA0FDDE24C}" type="presParOf" srcId="{B4D39FF5-DE11-4651-9E15-19C3B7AA385F}" destId="{7E3AEEE7-3601-4085-86E2-F53937FE84FA}" srcOrd="0" destOrd="0" presId="urn:microsoft.com/office/officeart/2005/8/layout/vProcess5"/>
    <dgm:cxn modelId="{6508431E-2513-4237-BEF2-495FFBFAD91B}" type="presParOf" srcId="{B4D39FF5-DE11-4651-9E15-19C3B7AA385F}" destId="{7624D77B-2EE6-4BFF-8352-C7BA36E2C6F9}" srcOrd="1" destOrd="0" presId="urn:microsoft.com/office/officeart/2005/8/layout/vProcess5"/>
    <dgm:cxn modelId="{6C6F7660-1160-427D-BAD3-CB20EDA10CDF}" type="presParOf" srcId="{B4D39FF5-DE11-4651-9E15-19C3B7AA385F}" destId="{12622EC1-1261-460F-983E-E1325C452611}" srcOrd="2" destOrd="0" presId="urn:microsoft.com/office/officeart/2005/8/layout/vProcess5"/>
    <dgm:cxn modelId="{5842423A-7F02-4B12-98DB-977411CB9CC7}" type="presParOf" srcId="{B4D39FF5-DE11-4651-9E15-19C3B7AA385F}" destId="{E31F873F-29E8-4E19-A01E-5A3E10B4599B}" srcOrd="3" destOrd="0" presId="urn:microsoft.com/office/officeart/2005/8/layout/vProcess5"/>
    <dgm:cxn modelId="{BA34520A-F1C2-46EB-A73F-B695907CCDD1}" type="presParOf" srcId="{B4D39FF5-DE11-4651-9E15-19C3B7AA385F}" destId="{8905544A-A06F-42C9-B1CE-DFA6EFDC6D37}" srcOrd="4" destOrd="0" presId="urn:microsoft.com/office/officeart/2005/8/layout/vProcess5"/>
    <dgm:cxn modelId="{B418E4D9-B81B-4C7E-A42D-D56FC95E941C}" type="presParOf" srcId="{B4D39FF5-DE11-4651-9E15-19C3B7AA385F}" destId="{C099FC2B-B211-412A-967B-E7BBA69B720D}" srcOrd="5" destOrd="0" presId="urn:microsoft.com/office/officeart/2005/8/layout/vProcess5"/>
    <dgm:cxn modelId="{E3EE8DAF-F96D-4B46-9ED8-D876FF5BFB8D}" type="presParOf" srcId="{B4D39FF5-DE11-4651-9E15-19C3B7AA385F}" destId="{178144C9-6752-4678-AB8E-7D84882DCCF7}" srcOrd="6" destOrd="0" presId="urn:microsoft.com/office/officeart/2005/8/layout/vProcess5"/>
    <dgm:cxn modelId="{5AF50FA7-3975-400C-B760-77D1A4CF11D8}" type="presParOf" srcId="{B4D39FF5-DE11-4651-9E15-19C3B7AA385F}" destId="{58404E1A-510A-4115-AB4C-9D57E85E90E4}" srcOrd="7" destOrd="0" presId="urn:microsoft.com/office/officeart/2005/8/layout/vProcess5"/>
    <dgm:cxn modelId="{5F6F15FA-431A-4CD2-B945-AA05DB0AE501}" type="presParOf" srcId="{B4D39FF5-DE11-4651-9E15-19C3B7AA385F}" destId="{23D663AC-BE75-4301-8A09-4B1A7E62B33C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54BEB-3256-4E96-9D0C-EC9DACC7B964}">
      <dsp:nvSpPr>
        <dsp:cNvPr id="0" name=""/>
        <dsp:cNvSpPr/>
      </dsp:nvSpPr>
      <dsp:spPr>
        <a:xfrm>
          <a:off x="0" y="225849"/>
          <a:ext cx="3577621" cy="451699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Key Plain</a:t>
          </a:r>
        </a:p>
      </dsp:txBody>
      <dsp:txXfrm>
        <a:off x="13230" y="239079"/>
        <a:ext cx="3551161" cy="425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54BEB-3256-4E96-9D0C-EC9DACC7B964}">
      <dsp:nvSpPr>
        <dsp:cNvPr id="0" name=""/>
        <dsp:cNvSpPr/>
      </dsp:nvSpPr>
      <dsp:spPr>
        <a:xfrm>
          <a:off x="0" y="225849"/>
          <a:ext cx="3577621" cy="451699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Key Plain</a:t>
          </a:r>
        </a:p>
      </dsp:txBody>
      <dsp:txXfrm>
        <a:off x="13230" y="239079"/>
        <a:ext cx="3551161" cy="425239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4D77B-2EE6-4BFF-8352-C7BA36E2C6F9}">
      <dsp:nvSpPr>
        <dsp:cNvPr id="0" name=""/>
        <dsp:cNvSpPr/>
      </dsp:nvSpPr>
      <dsp:spPr>
        <a:xfrm>
          <a:off x="39311" y="0"/>
          <a:ext cx="3580264" cy="465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PBKDF2 [Morse, Pub. Code]</a:t>
          </a:r>
        </a:p>
      </dsp:txBody>
      <dsp:txXfrm>
        <a:off x="52946" y="13635"/>
        <a:ext cx="3077920" cy="438261"/>
      </dsp:txXfrm>
    </dsp:sp>
    <dsp:sp modelId="{12622EC1-1261-460F-983E-E1325C452611}">
      <dsp:nvSpPr>
        <dsp:cNvPr id="0" name=""/>
        <dsp:cNvSpPr/>
      </dsp:nvSpPr>
      <dsp:spPr>
        <a:xfrm>
          <a:off x="315905" y="543119"/>
          <a:ext cx="3580264" cy="465531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Key User</a:t>
          </a:r>
        </a:p>
      </dsp:txBody>
      <dsp:txXfrm>
        <a:off x="329540" y="556754"/>
        <a:ext cx="2934493" cy="438261"/>
      </dsp:txXfrm>
    </dsp:sp>
    <dsp:sp modelId="{E31F873F-29E8-4E19-A01E-5A3E10B4599B}">
      <dsp:nvSpPr>
        <dsp:cNvPr id="0" name=""/>
        <dsp:cNvSpPr/>
      </dsp:nvSpPr>
      <dsp:spPr>
        <a:xfrm>
          <a:off x="631811" y="1086238"/>
          <a:ext cx="3580264" cy="465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AES[Key Plain, Key user]</a:t>
          </a:r>
        </a:p>
      </dsp:txBody>
      <dsp:txXfrm>
        <a:off x="645446" y="1099873"/>
        <a:ext cx="2934493" cy="438261"/>
      </dsp:txXfrm>
    </dsp:sp>
    <dsp:sp modelId="{8905544A-A06F-42C9-B1CE-DFA6EFDC6D37}">
      <dsp:nvSpPr>
        <dsp:cNvPr id="0" name=""/>
        <dsp:cNvSpPr/>
      </dsp:nvSpPr>
      <dsp:spPr>
        <a:xfrm>
          <a:off x="3277669" y="353027"/>
          <a:ext cx="302595" cy="302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Agency FB" panose="020B0503020202020204" pitchFamily="34" charset="0"/>
          </a:endParaRPr>
        </a:p>
      </dsp:txBody>
      <dsp:txXfrm>
        <a:off x="3345753" y="353027"/>
        <a:ext cx="166427" cy="227703"/>
      </dsp:txXfrm>
    </dsp:sp>
    <dsp:sp modelId="{C099FC2B-B211-412A-967B-E7BBA69B720D}">
      <dsp:nvSpPr>
        <dsp:cNvPr id="0" name=""/>
        <dsp:cNvSpPr/>
      </dsp:nvSpPr>
      <dsp:spPr>
        <a:xfrm>
          <a:off x="3593575" y="893043"/>
          <a:ext cx="302595" cy="302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Agency FB" panose="020B0503020202020204" pitchFamily="34" charset="0"/>
          </a:endParaRPr>
        </a:p>
      </dsp:txBody>
      <dsp:txXfrm>
        <a:off x="3661659" y="893043"/>
        <a:ext cx="166427" cy="227703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E54BEB-3256-4E96-9D0C-EC9DACC7B964}">
      <dsp:nvSpPr>
        <dsp:cNvPr id="0" name=""/>
        <dsp:cNvSpPr/>
      </dsp:nvSpPr>
      <dsp:spPr>
        <a:xfrm>
          <a:off x="0" y="225849"/>
          <a:ext cx="3577621" cy="451699"/>
        </a:xfrm>
        <a:prstGeom prst="roundRect">
          <a:avLst>
            <a:gd name="adj" fmla="val 10000"/>
          </a:avLst>
        </a:prstGeom>
        <a:solidFill>
          <a:schemeClr val="accent3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Dec [Key user, Key enc]</a:t>
          </a:r>
        </a:p>
      </dsp:txBody>
      <dsp:txXfrm>
        <a:off x="13230" y="239079"/>
        <a:ext cx="3551161" cy="425239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624D77B-2EE6-4BFF-8352-C7BA36E2C6F9}">
      <dsp:nvSpPr>
        <dsp:cNvPr id="0" name=""/>
        <dsp:cNvSpPr/>
      </dsp:nvSpPr>
      <dsp:spPr>
        <a:xfrm>
          <a:off x="39311" y="0"/>
          <a:ext cx="3580264" cy="465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PBKDF2 [Morse, “Salt”]</a:t>
          </a:r>
        </a:p>
      </dsp:txBody>
      <dsp:txXfrm>
        <a:off x="52946" y="13635"/>
        <a:ext cx="3077920" cy="438261"/>
      </dsp:txXfrm>
    </dsp:sp>
    <dsp:sp modelId="{12622EC1-1261-460F-983E-E1325C452611}">
      <dsp:nvSpPr>
        <dsp:cNvPr id="0" name=""/>
        <dsp:cNvSpPr/>
      </dsp:nvSpPr>
      <dsp:spPr>
        <a:xfrm>
          <a:off x="315905" y="543119"/>
          <a:ext cx="3580264" cy="465531"/>
        </a:xfrm>
        <a:prstGeom prst="roundRect">
          <a:avLst>
            <a:gd name="adj" fmla="val 10000"/>
          </a:avLst>
        </a:prstGeom>
        <a:solidFill>
          <a:schemeClr val="bg2">
            <a:lumMod val="75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Key User</a:t>
          </a:r>
        </a:p>
      </dsp:txBody>
      <dsp:txXfrm>
        <a:off x="329540" y="556754"/>
        <a:ext cx="2934493" cy="438261"/>
      </dsp:txXfrm>
    </dsp:sp>
    <dsp:sp modelId="{E31F873F-29E8-4E19-A01E-5A3E10B4599B}">
      <dsp:nvSpPr>
        <dsp:cNvPr id="0" name=""/>
        <dsp:cNvSpPr/>
      </dsp:nvSpPr>
      <dsp:spPr>
        <a:xfrm>
          <a:off x="631811" y="1086238"/>
          <a:ext cx="3580264" cy="465531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400" kern="1200" dirty="0">
              <a:latin typeface="Agency FB" panose="020B0503020202020204" pitchFamily="34" charset="0"/>
            </a:rPr>
            <a:t>AES[Key Plain, Key user]</a:t>
          </a:r>
        </a:p>
      </dsp:txBody>
      <dsp:txXfrm>
        <a:off x="645446" y="1099873"/>
        <a:ext cx="2934493" cy="438261"/>
      </dsp:txXfrm>
    </dsp:sp>
    <dsp:sp modelId="{8905544A-A06F-42C9-B1CE-DFA6EFDC6D37}">
      <dsp:nvSpPr>
        <dsp:cNvPr id="0" name=""/>
        <dsp:cNvSpPr/>
      </dsp:nvSpPr>
      <dsp:spPr>
        <a:xfrm>
          <a:off x="3277669" y="353027"/>
          <a:ext cx="302595" cy="302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Agency FB" panose="020B0503020202020204" pitchFamily="34" charset="0"/>
          </a:endParaRPr>
        </a:p>
      </dsp:txBody>
      <dsp:txXfrm>
        <a:off x="3345753" y="353027"/>
        <a:ext cx="166427" cy="227703"/>
      </dsp:txXfrm>
    </dsp:sp>
    <dsp:sp modelId="{C099FC2B-B211-412A-967B-E7BBA69B720D}">
      <dsp:nvSpPr>
        <dsp:cNvPr id="0" name=""/>
        <dsp:cNvSpPr/>
      </dsp:nvSpPr>
      <dsp:spPr>
        <a:xfrm>
          <a:off x="3593575" y="893043"/>
          <a:ext cx="302595" cy="302595"/>
        </a:xfrm>
        <a:prstGeom prst="downArrow">
          <a:avLst>
            <a:gd name="adj1" fmla="val 55000"/>
            <a:gd name="adj2" fmla="val 45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0480" tIns="30480" rIns="30480" bIns="3048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2400" kern="1200">
            <a:latin typeface="Agency FB" panose="020B0503020202020204" pitchFamily="34" charset="0"/>
          </a:endParaRPr>
        </a:p>
      </dsp:txBody>
      <dsp:txXfrm>
        <a:off x="3661659" y="893043"/>
        <a:ext cx="166427" cy="22770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3A46D45-EE58-46FD-9436-74A4ED578FAF}" type="datetimeFigureOut">
              <a:rPr lang="en-GB" smtClean="0"/>
              <a:t>15/12/2025</a:t>
            </a:fld>
            <a:endParaRPr lang="en-GB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GB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A8B244-F9EF-41A1-B953-2DFC18C2A946}" type="slidenum">
              <a:rPr lang="en-GB" smtClean="0"/>
              <a:t>‹N°›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731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Denials of service </a:t>
            </a:r>
            <a:r>
              <a:rPr lang="en-GB"/>
              <a:t>: Publisher </a:t>
            </a:r>
            <a:r>
              <a:rPr lang="en-GB" dirty="0"/>
              <a:t>– storage capacity modification / Subscriber – Data flooding / Network – Data flooding</a:t>
            </a:r>
            <a:br>
              <a:rPr lang="en-GB" dirty="0"/>
            </a:br>
            <a:r>
              <a:rPr lang="en-GB" dirty="0"/>
              <a:t>Elevation of Privilege : Access to the plain text data through Firmware access – Flash</a:t>
            </a:r>
            <a:br>
              <a:rPr lang="en-GB" dirty="0"/>
            </a:br>
            <a:r>
              <a:rPr lang="en-GB" dirty="0"/>
              <a:t>Tampering : ESP32 – Flash memory modification / Network – MQTT package modification</a:t>
            </a:r>
            <a:br>
              <a:rPr lang="en-GB" dirty="0"/>
            </a:br>
            <a:r>
              <a:rPr lang="en-GB" dirty="0"/>
              <a:t>Info disclosure : listening</a:t>
            </a:r>
            <a:br>
              <a:rPr lang="en-GB" dirty="0"/>
            </a:br>
            <a:r>
              <a:rPr lang="en-GB" dirty="0"/>
              <a:t>Spoofing : Faking User identity</a:t>
            </a:r>
            <a:br>
              <a:rPr lang="en-GB" dirty="0"/>
            </a:br>
            <a:r>
              <a:rPr lang="en-GB" dirty="0" err="1"/>
              <a:t>Repudation</a:t>
            </a:r>
            <a:r>
              <a:rPr lang="en-GB" dirty="0"/>
              <a:t> : Alter Log files – impossible to identify who sent data or if data has been sent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7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665250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C69C7C-0B0C-2B92-575F-8984505844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AB91BD3F-0375-B62B-DAF2-BB3DED7678D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B59B7D51-1D3F-0EE8-D938-41A3CC6834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FBB22D24-D029-C6F4-7142-60223A9F80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8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0926552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C424B8-EAB7-A947-260D-E669AD64CA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5C0A8AA6-B343-B106-5AF0-4D6E2997E8B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2AAF550-35CD-9FE7-5174-C1E70DF436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8E259ED1-CCB8-2F5E-8CA2-91AD7B3AEB9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9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51517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05DA76-40AA-846B-1AA3-C68027D249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4B6007B6-7DAA-A485-1ADC-97AB0812AEC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D9ACCE3B-55A7-D526-8EC9-0E24974C2DF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PBKDF2 – High iteration algorithm</a:t>
            </a:r>
            <a:br>
              <a:rPr lang="en-GB" dirty="0"/>
            </a:br>
            <a:r>
              <a:rPr lang="en-GB" dirty="0"/>
              <a:t>Public Code, Shared Key saved in Encrypted flash</a:t>
            </a:r>
            <a:br>
              <a:rPr lang="en-GB" dirty="0"/>
            </a:br>
            <a:r>
              <a:rPr lang="en-GB" dirty="0"/>
              <a:t>Morse code to enter by push button – Debounce code needed</a:t>
            </a:r>
            <a:br>
              <a:rPr lang="en-GB" dirty="0"/>
            </a:br>
            <a:r>
              <a:rPr lang="en-GB" dirty="0"/>
              <a:t>Hashed message for Denial of Service check (ensure no flooding by wrong devices) + </a:t>
            </a:r>
            <a:r>
              <a:rPr lang="en-GB" dirty="0" err="1"/>
              <a:t>Repudation</a:t>
            </a:r>
            <a:r>
              <a:rPr lang="en-GB" dirty="0"/>
              <a:t> control -  saved in log file</a:t>
            </a:r>
            <a:br>
              <a:rPr lang="en-GB" dirty="0"/>
            </a:br>
            <a:r>
              <a:rPr lang="en-GB" dirty="0"/>
              <a:t>Encrypt Flash + Rate limit to avoid DOS</a:t>
            </a:r>
            <a:br>
              <a:rPr lang="en-GB" dirty="0"/>
            </a:br>
            <a:r>
              <a:rPr lang="en-GB" dirty="0"/>
              <a:t>If Subscriber found too many failed hashed message verification -&gt; Quiet mode – does not listen to the broker.</a:t>
            </a:r>
            <a:br>
              <a:rPr lang="en-GB" dirty="0"/>
            </a:br>
            <a:r>
              <a:rPr lang="en-GB" dirty="0"/>
              <a:t>Port Knocking for sniffing !!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E4B80AD0-9B1F-B097-D89B-76F738FA13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9987656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79B843-1861-BE21-B9D4-75E55B7DCF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29FBBFDE-E2AC-32C0-7F65-CFC4C4FDEE1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50616745-BD84-647E-BFC3-F5EC8C1A23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PBKDF2 – High iteration algorithm</a:t>
            </a:r>
            <a:br>
              <a:rPr lang="en-GB" dirty="0"/>
            </a:br>
            <a:r>
              <a:rPr lang="en-GB" dirty="0"/>
              <a:t>Public Code, Shared Key saved in Encrypted flash</a:t>
            </a:r>
            <a:br>
              <a:rPr lang="en-GB" dirty="0"/>
            </a:br>
            <a:r>
              <a:rPr lang="en-GB" dirty="0"/>
              <a:t>Morse code to enter by push button – Debounce code needed</a:t>
            </a:r>
            <a:br>
              <a:rPr lang="en-GB" dirty="0"/>
            </a:br>
            <a:r>
              <a:rPr lang="en-GB" dirty="0"/>
              <a:t>Hashed message for Denial of Service check (ensure no flooding by wrong devices) + </a:t>
            </a:r>
            <a:r>
              <a:rPr lang="en-GB" dirty="0" err="1"/>
              <a:t>Repudation</a:t>
            </a:r>
            <a:r>
              <a:rPr lang="en-GB" dirty="0"/>
              <a:t> control -  saved in log file</a:t>
            </a:r>
            <a:br>
              <a:rPr lang="en-GB" dirty="0"/>
            </a:br>
            <a:r>
              <a:rPr lang="en-GB" dirty="0"/>
              <a:t>Encrypt Flash + Rate limit to avoid DOS</a:t>
            </a:r>
            <a:br>
              <a:rPr lang="en-GB" dirty="0"/>
            </a:br>
            <a:r>
              <a:rPr lang="en-GB" dirty="0"/>
              <a:t>If Subscriber found too many failed hashed message verification -&gt; Quiet mode – does not listen to the broker.</a:t>
            </a:r>
            <a:br>
              <a:rPr lang="en-GB" dirty="0"/>
            </a:br>
            <a:r>
              <a:rPr lang="en-GB" dirty="0"/>
              <a:t>Port Knocking for sniffing !!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2154E255-FBA3-0E98-A6C2-03C61AE0308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12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9147604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A1CCB0-174D-220D-CC3D-0FB9B15158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F85369A8-93A5-A6E6-FC25-8303CF1B64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E107DF0E-078B-40ED-448E-AE520EE28AA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PBKDF2 – High iteration algorithm</a:t>
            </a:r>
            <a:br>
              <a:rPr lang="en-GB" dirty="0"/>
            </a:br>
            <a:r>
              <a:rPr lang="en-GB" dirty="0"/>
              <a:t>Public Code, Shared Key saved in Encrypted flash</a:t>
            </a:r>
            <a:br>
              <a:rPr lang="en-GB" dirty="0"/>
            </a:br>
            <a:r>
              <a:rPr lang="en-GB" dirty="0"/>
              <a:t>Morse code to enter by push button – Debounce code needed</a:t>
            </a:r>
            <a:br>
              <a:rPr lang="en-GB" dirty="0"/>
            </a:br>
            <a:r>
              <a:rPr lang="en-GB" dirty="0"/>
              <a:t>Hashed message for Denial of Service check (ensure no flooding by wrong devices) + </a:t>
            </a:r>
            <a:r>
              <a:rPr lang="en-GB" dirty="0" err="1"/>
              <a:t>Repudation</a:t>
            </a:r>
            <a:r>
              <a:rPr lang="en-GB" dirty="0"/>
              <a:t> control -  saved in log file</a:t>
            </a:r>
            <a:br>
              <a:rPr lang="en-GB" dirty="0"/>
            </a:br>
            <a:r>
              <a:rPr lang="en-GB" dirty="0"/>
              <a:t>Encrypt Flash + Rate limit to avoid DOS</a:t>
            </a:r>
            <a:br>
              <a:rPr lang="en-GB" dirty="0"/>
            </a:br>
            <a:r>
              <a:rPr lang="en-GB" dirty="0"/>
              <a:t>If Subscriber found too many failed hashed message verification -&gt; Quiet mode – does not listen to the broker.</a:t>
            </a:r>
            <a:br>
              <a:rPr lang="en-GB" dirty="0"/>
            </a:br>
            <a:r>
              <a:rPr lang="en-GB" dirty="0"/>
              <a:t>Port Knocking for sniffing !!</a:t>
            </a:r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D3E08ACF-7199-CB85-D30B-6C261FDFCE1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13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589342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EC87D-910C-90E0-C479-0B97238E26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>
            <a:extLst>
              <a:ext uri="{FF2B5EF4-FFF2-40B4-BE49-F238E27FC236}">
                <a16:creationId xmlns:a16="http://schemas.microsoft.com/office/drawing/2014/main" id="{1E7F96F4-2A21-F5EC-EE83-5B33D3CC709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>
            <a:extLst>
              <a:ext uri="{FF2B5EF4-FFF2-40B4-BE49-F238E27FC236}">
                <a16:creationId xmlns:a16="http://schemas.microsoft.com/office/drawing/2014/main" id="{434F3B84-B626-04C8-51C7-8A41C8610E4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Espace réservé du numéro de diapositive 3">
            <a:extLst>
              <a:ext uri="{FF2B5EF4-FFF2-40B4-BE49-F238E27FC236}">
                <a16:creationId xmlns:a16="http://schemas.microsoft.com/office/drawing/2014/main" id="{CA602DA7-4CDC-FEF7-62C0-F273C51E664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A8B244-F9EF-41A1-B953-2DFC18C2A946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537289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52795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792042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76607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462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12/15/2025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92328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12/15/2025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72049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12/15/2025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3190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536858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12/15/2025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5670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5376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53584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12/15/2025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34590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4" r:id="rId1"/>
    <p:sldLayoutId id="2147483695" r:id="rId2"/>
    <p:sldLayoutId id="2147483696" r:id="rId3"/>
    <p:sldLayoutId id="2147483697" r:id="rId4"/>
    <p:sldLayoutId id="2147483698" r:id="rId5"/>
    <p:sldLayoutId id="2147483692" r:id="rId6"/>
    <p:sldLayoutId id="2147483688" r:id="rId7"/>
    <p:sldLayoutId id="2147483689" r:id="rId8"/>
    <p:sldLayoutId id="2147483690" r:id="rId9"/>
    <p:sldLayoutId id="2147483691" r:id="rId10"/>
    <p:sldLayoutId id="2147483693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diagramData" Target="../diagrams/data4.xml"/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12" Type="http://schemas.microsoft.com/office/2007/relationships/diagramDrawing" Target="../diagrams/drawing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3.xml"/><Relationship Id="rId11" Type="http://schemas.openxmlformats.org/officeDocument/2006/relationships/diagramColors" Target="../diagrams/colors4.xml"/><Relationship Id="rId5" Type="http://schemas.openxmlformats.org/officeDocument/2006/relationships/diagramQuickStyle" Target="../diagrams/quickStyle3.xml"/><Relationship Id="rId10" Type="http://schemas.openxmlformats.org/officeDocument/2006/relationships/diagramQuickStyle" Target="../diagrams/quickStyle4.xml"/><Relationship Id="rId4" Type="http://schemas.openxmlformats.org/officeDocument/2006/relationships/diagramLayout" Target="../diagrams/layout3.xml"/><Relationship Id="rId9" Type="http://schemas.openxmlformats.org/officeDocument/2006/relationships/diagramLayout" Target="../diagrams/layout4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diagramLayout" Target="../diagrams/layout5.xml"/><Relationship Id="rId7" Type="http://schemas.openxmlformats.org/officeDocument/2006/relationships/image" Target="../media/image4.png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E5473D2-DD46-DFAF-84EC-264D6CE58B9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03567EE-20CD-05DC-7947-AC7D8D0BCD6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43394" y="1585762"/>
            <a:ext cx="3788767" cy="2811737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IoT </a:t>
            </a:r>
            <a:r>
              <a:rPr lang="en-GB" sz="2800" dirty="0"/>
              <a:t>Project</a:t>
            </a:r>
          </a:p>
        </p:txBody>
      </p:sp>
      <p:sp>
        <p:nvSpPr>
          <p:cNvPr id="3" name="Sous-titre 2">
            <a:extLst>
              <a:ext uri="{FF2B5EF4-FFF2-40B4-BE49-F238E27FC236}">
                <a16:creationId xmlns:a16="http://schemas.microsoft.com/office/drawing/2014/main" id="{B52CD381-0315-1564-D551-A4124F7FAC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843395" y="4524046"/>
            <a:ext cx="3965984" cy="1319951"/>
          </a:xfrm>
        </p:spPr>
        <p:txBody>
          <a:bodyPr>
            <a:normAutofit/>
          </a:bodyPr>
          <a:lstStyle/>
          <a:p>
            <a:pPr algn="l"/>
            <a:r>
              <a:rPr lang="en-GB" sz="2000" b="1" dirty="0"/>
              <a:t>Secured thermal monitoring room concept</a:t>
            </a:r>
          </a:p>
        </p:txBody>
      </p:sp>
      <p:pic>
        <p:nvPicPr>
          <p:cNvPr id="14" name="Picture 3" descr="Abstrait de la connexion réseau sur un arrière-plan blanc">
            <a:extLst>
              <a:ext uri="{FF2B5EF4-FFF2-40B4-BE49-F238E27FC236}">
                <a16:creationId xmlns:a16="http://schemas.microsoft.com/office/drawing/2014/main" id="{4F35FA56-4733-E1AA-1D0B-591A1A83171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28287" b="-1"/>
          <a:stretch>
            <a:fillRect/>
          </a:stretch>
        </p:blipFill>
        <p:spPr>
          <a:xfrm>
            <a:off x="2" y="10"/>
            <a:ext cx="736775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656194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136C9C-BC95-6844-2439-95CCB56C6B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67CA22F6-16F1-785A-15C3-6DAE87CC7B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FED50AD9-8A48-DC32-EEE3-5DD0FAECC4C0}"/>
              </a:ext>
            </a:extLst>
          </p:cNvPr>
          <p:cNvSpPr txBox="1"/>
          <p:nvPr/>
        </p:nvSpPr>
        <p:spPr>
          <a:xfrm>
            <a:off x="2118386" y="2680450"/>
            <a:ext cx="4650632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Introduction and concept</a:t>
            </a:r>
          </a:p>
          <a:p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Data flow and STRIDE threat detection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Security mitigation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Discussion and conclusion</a:t>
            </a:r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F48BC0A8-3BCB-CE92-C474-2BF7FBFA738C}"/>
              </a:ext>
            </a:extLst>
          </p:cNvPr>
          <p:cNvSpPr txBox="1"/>
          <p:nvPr/>
        </p:nvSpPr>
        <p:spPr>
          <a:xfrm>
            <a:off x="2118386" y="2004836"/>
            <a:ext cx="131959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AGENDA</a:t>
            </a:r>
            <a:endParaRPr lang="en-GB" sz="2400" b="1" dirty="0"/>
          </a:p>
        </p:txBody>
      </p:sp>
      <p:pic>
        <p:nvPicPr>
          <p:cNvPr id="28" name="Image 27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602AB2F2-F43E-6253-A53A-B1A5ABB3274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67831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66C26A-9F1B-0FF0-DF43-EB1B9F1A2F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E9B6E33-3860-E0E9-EFCC-5BE7B3D9E8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pic>
        <p:nvPicPr>
          <p:cNvPr id="28" name="Image 27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A29766F1-3CC1-E817-251B-6F32BD907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4C375045-9715-7A84-5DAE-1343759CDC57}"/>
              </a:ext>
            </a:extLst>
          </p:cNvPr>
          <p:cNvSpPr txBox="1"/>
          <p:nvPr/>
        </p:nvSpPr>
        <p:spPr>
          <a:xfrm>
            <a:off x="359924" y="1532564"/>
            <a:ext cx="333456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Introduction and concept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45300879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25594E-42A5-0585-B622-F2A1EA3EFE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CC9AAED5-6C4C-349D-BC46-0B555644B8E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pic>
        <p:nvPicPr>
          <p:cNvPr id="28" name="Image 27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6AA5E4F4-28DC-A10A-77E1-92F71B83072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sp>
        <p:nvSpPr>
          <p:cNvPr id="3" name="ZoneTexte 2">
            <a:extLst>
              <a:ext uri="{FF2B5EF4-FFF2-40B4-BE49-F238E27FC236}">
                <a16:creationId xmlns:a16="http://schemas.microsoft.com/office/drawing/2014/main" id="{5C4C3B59-915C-D706-5DB6-9762CAFD3080}"/>
              </a:ext>
            </a:extLst>
          </p:cNvPr>
          <p:cNvSpPr txBox="1"/>
          <p:nvPr/>
        </p:nvSpPr>
        <p:spPr>
          <a:xfrm>
            <a:off x="359924" y="1532564"/>
            <a:ext cx="515397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Data flow and STRIDE threats detection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8034022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4FAFE1-DF02-5497-1FDE-03E39BFE76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BCDA2D3-CB28-61C7-CAF9-B091A7B94FA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283EB8B3-BFB5-4AC8-7219-492E23DF9A14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7ECBEE90-28CC-419D-6B91-3759056F9B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A298412F-3BE6-C5AF-1010-49A3ABE5653F}"/>
              </a:ext>
            </a:extLst>
          </p:cNvPr>
          <p:cNvGrpSpPr/>
          <p:nvPr/>
        </p:nvGrpSpPr>
        <p:grpSpPr>
          <a:xfrm>
            <a:off x="1258927" y="1226282"/>
            <a:ext cx="9405197" cy="3104030"/>
            <a:chOff x="1254868" y="1529657"/>
            <a:chExt cx="9405197" cy="310403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0EAEBB50-5D12-CD4B-8BE1-D894C26589C4}"/>
                </a:ext>
              </a:extLst>
            </p:cNvPr>
            <p:cNvGrpSpPr/>
            <p:nvPr/>
          </p:nvGrpSpPr>
          <p:grpSpPr>
            <a:xfrm>
              <a:off x="1254868" y="2276272"/>
              <a:ext cx="9405197" cy="2305456"/>
              <a:chOff x="1254868" y="2276272"/>
              <a:chExt cx="9405197" cy="2305456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0C3ABBE2-98C0-8DB2-2873-40EF5C8F092D}"/>
                  </a:ext>
                </a:extLst>
              </p:cNvPr>
              <p:cNvSpPr/>
              <p:nvPr/>
            </p:nvSpPr>
            <p:spPr>
              <a:xfrm>
                <a:off x="1254868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Publisher</a:t>
                </a:r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53C2491A-D85C-8D14-E68A-F4CD6E2FAC42}"/>
                  </a:ext>
                </a:extLst>
              </p:cNvPr>
              <p:cNvSpPr/>
              <p:nvPr/>
            </p:nvSpPr>
            <p:spPr>
              <a:xfrm>
                <a:off x="9016090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Suscriber</a:t>
                </a:r>
                <a:endParaRPr lang="en-GB" dirty="0"/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D6A38D02-8CA9-A6A8-5D03-9AF979CD4C82}"/>
                  </a:ext>
                </a:extLst>
              </p:cNvPr>
              <p:cNvSpPr/>
              <p:nvPr/>
            </p:nvSpPr>
            <p:spPr>
              <a:xfrm>
                <a:off x="4742236" y="2276272"/>
                <a:ext cx="2305456" cy="230545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MQTT Broker</a:t>
                </a:r>
              </a:p>
            </p:txBody>
          </p:sp>
          <p:sp>
            <p:nvSpPr>
              <p:cNvPr id="9" name="Flèche : droite 8">
                <a:extLst>
                  <a:ext uri="{FF2B5EF4-FFF2-40B4-BE49-F238E27FC236}">
                    <a16:creationId xmlns:a16="http://schemas.microsoft.com/office/drawing/2014/main" id="{02D69900-2DF5-B696-EA62-E8479FE1041E}"/>
                  </a:ext>
                </a:extLst>
              </p:cNvPr>
              <p:cNvSpPr/>
              <p:nvPr/>
            </p:nvSpPr>
            <p:spPr>
              <a:xfrm>
                <a:off x="3032595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0418F8EB-8C7A-F867-8114-F8D3B81E9CA0}"/>
                  </a:ext>
                </a:extLst>
              </p:cNvPr>
              <p:cNvSpPr/>
              <p:nvPr/>
            </p:nvSpPr>
            <p:spPr>
              <a:xfrm>
                <a:off x="7267054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1080000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20D59480-74E6-E013-C882-1EEC38297722}"/>
                </a:ext>
              </a:extLst>
            </p:cNvPr>
            <p:cNvSpPr/>
            <p:nvPr/>
          </p:nvSpPr>
          <p:spPr>
            <a:xfrm>
              <a:off x="4698504" y="2233939"/>
              <a:ext cx="2399748" cy="2399748"/>
            </a:xfrm>
            <a:prstGeom prst="ellipse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5237FD30-0A0F-775A-319F-F7FDF8E4222C}"/>
                </a:ext>
              </a:extLst>
            </p:cNvPr>
            <p:cNvSpPr txBox="1"/>
            <p:nvPr/>
          </p:nvSpPr>
          <p:spPr>
            <a:xfrm>
              <a:off x="4871485" y="1529657"/>
              <a:ext cx="19271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Trust Boundary</a:t>
              </a:r>
              <a:b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Computer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38FB8346-6D83-AE41-7198-BD41EF010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464277"/>
              </p:ext>
            </p:extLst>
          </p:nvPr>
        </p:nvGraphicFramePr>
        <p:xfrm>
          <a:off x="1177262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12E4B872-B05F-28F8-5586-D077E768329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704692"/>
              </p:ext>
            </p:extLst>
          </p:nvPr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EFCA0D82-0AD1-F925-09CC-189111E15E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75880040"/>
              </p:ext>
            </p:extLst>
          </p:nvPr>
        </p:nvGraphicFramePr>
        <p:xfrm>
          <a:off x="4995371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44A0FF42-BE54-5C6E-5ABF-ED8FAE1CE33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5220"/>
              </p:ext>
            </p:extLst>
          </p:nvPr>
        </p:nvGraphicFramePr>
        <p:xfrm>
          <a:off x="8938484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bg1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23" name="ZoneTexte 22">
            <a:extLst>
              <a:ext uri="{FF2B5EF4-FFF2-40B4-BE49-F238E27FC236}">
                <a16:creationId xmlns:a16="http://schemas.microsoft.com/office/drawing/2014/main" id="{BA3F33E4-ED0A-C791-B7AB-47DD2719B775}"/>
              </a:ext>
            </a:extLst>
          </p:cNvPr>
          <p:cNvSpPr txBox="1"/>
          <p:nvPr/>
        </p:nvSpPr>
        <p:spPr>
          <a:xfrm>
            <a:off x="359924" y="18771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LVL 1 DIAGRAM FLOW</a:t>
            </a:r>
          </a:p>
        </p:txBody>
      </p:sp>
    </p:spTree>
    <p:extLst>
      <p:ext uri="{BB962C8B-B14F-4D97-AF65-F5344CB8AC3E}">
        <p14:creationId xmlns:p14="http://schemas.microsoft.com/office/powerpoint/2010/main" val="38490810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EA774E-B9E2-792E-2CE5-C4C27A2901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36A89ED-DF4E-3A60-AECF-465666404C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72A535A1-CDCB-D52F-29DE-2E7CE3277F98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5298433C-8423-E6B0-F719-E18C24ECAB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38D0DF88-0C49-E7C8-8BF5-D12FF983B164}"/>
              </a:ext>
            </a:extLst>
          </p:cNvPr>
          <p:cNvGrpSpPr/>
          <p:nvPr/>
        </p:nvGrpSpPr>
        <p:grpSpPr>
          <a:xfrm>
            <a:off x="1258927" y="1226282"/>
            <a:ext cx="9405197" cy="3104030"/>
            <a:chOff x="1254868" y="1529657"/>
            <a:chExt cx="9405197" cy="310403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F60A6DE6-F883-FF27-AEB6-8A279863A74E}"/>
                </a:ext>
              </a:extLst>
            </p:cNvPr>
            <p:cNvGrpSpPr/>
            <p:nvPr/>
          </p:nvGrpSpPr>
          <p:grpSpPr>
            <a:xfrm>
              <a:off x="1254868" y="2276272"/>
              <a:ext cx="9405197" cy="2305456"/>
              <a:chOff x="1254868" y="2276272"/>
              <a:chExt cx="9405197" cy="2305456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3A669479-743D-A45F-0B3D-EEB8A3E196B8}"/>
                  </a:ext>
                </a:extLst>
              </p:cNvPr>
              <p:cNvSpPr/>
              <p:nvPr/>
            </p:nvSpPr>
            <p:spPr>
              <a:xfrm>
                <a:off x="1254868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Publisher</a:t>
                </a:r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635BA97F-3F14-4BFA-B804-9ECDF8035494}"/>
                  </a:ext>
                </a:extLst>
              </p:cNvPr>
              <p:cNvSpPr/>
              <p:nvPr/>
            </p:nvSpPr>
            <p:spPr>
              <a:xfrm>
                <a:off x="9016090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Suscriber</a:t>
                </a:r>
                <a:endParaRPr lang="en-GB" dirty="0"/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A4E41FEC-40F0-5ECD-D8AF-CC6AA5739D54}"/>
                  </a:ext>
                </a:extLst>
              </p:cNvPr>
              <p:cNvSpPr/>
              <p:nvPr/>
            </p:nvSpPr>
            <p:spPr>
              <a:xfrm>
                <a:off x="4742236" y="2276272"/>
                <a:ext cx="2305456" cy="230545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MQTT Broker</a:t>
                </a:r>
              </a:p>
            </p:txBody>
          </p:sp>
          <p:sp>
            <p:nvSpPr>
              <p:cNvPr id="9" name="Flèche : droite 8">
                <a:extLst>
                  <a:ext uri="{FF2B5EF4-FFF2-40B4-BE49-F238E27FC236}">
                    <a16:creationId xmlns:a16="http://schemas.microsoft.com/office/drawing/2014/main" id="{B6C7A3B5-C3FB-7723-FF71-DC48D5FEF4C2}"/>
                  </a:ext>
                </a:extLst>
              </p:cNvPr>
              <p:cNvSpPr/>
              <p:nvPr/>
            </p:nvSpPr>
            <p:spPr>
              <a:xfrm>
                <a:off x="3032595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23C9A946-E747-E8F3-A21B-8D4FB4A43713}"/>
                  </a:ext>
                </a:extLst>
              </p:cNvPr>
              <p:cNvSpPr/>
              <p:nvPr/>
            </p:nvSpPr>
            <p:spPr>
              <a:xfrm>
                <a:off x="7267054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1080000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003D065-AF37-55EC-EA46-3881D9510FD0}"/>
                </a:ext>
              </a:extLst>
            </p:cNvPr>
            <p:cNvSpPr/>
            <p:nvPr/>
          </p:nvSpPr>
          <p:spPr>
            <a:xfrm>
              <a:off x="4698504" y="2233939"/>
              <a:ext cx="2399748" cy="2399748"/>
            </a:xfrm>
            <a:prstGeom prst="ellipse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0AE0E387-8B22-A673-6046-96FCF84D87B3}"/>
                </a:ext>
              </a:extLst>
            </p:cNvPr>
            <p:cNvSpPr txBox="1"/>
            <p:nvPr/>
          </p:nvSpPr>
          <p:spPr>
            <a:xfrm>
              <a:off x="4871485" y="1529657"/>
              <a:ext cx="19271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Trust Boundary</a:t>
              </a:r>
              <a:b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Computer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1B50FED4-0194-5AFD-3702-2270273B18F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0804686"/>
              </p:ext>
            </p:extLst>
          </p:nvPr>
        </p:nvGraphicFramePr>
        <p:xfrm>
          <a:off x="1177262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0F3F3925-8C1C-D47C-D125-E7C745CCB82D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F9844EA2-7CB3-F140-53B2-1CAD5A9BBCA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0775928"/>
              </p:ext>
            </p:extLst>
          </p:nvPr>
        </p:nvGraphicFramePr>
        <p:xfrm>
          <a:off x="4995371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310D4824-A839-61B8-D656-C6F8A69BF4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351976"/>
              </p:ext>
            </p:extLst>
          </p:nvPr>
        </p:nvGraphicFramePr>
        <p:xfrm>
          <a:off x="8938484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8EC9B8D4-9B37-9598-7F8D-6F9285382A88}"/>
              </a:ext>
            </a:extLst>
          </p:cNvPr>
          <p:cNvSpPr txBox="1"/>
          <p:nvPr/>
        </p:nvSpPr>
        <p:spPr>
          <a:xfrm>
            <a:off x="359924" y="18771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LVL 1 DIAGRAM FLOW</a:t>
            </a:r>
          </a:p>
        </p:txBody>
      </p:sp>
    </p:spTree>
    <p:extLst>
      <p:ext uri="{BB962C8B-B14F-4D97-AF65-F5344CB8AC3E}">
        <p14:creationId xmlns:p14="http://schemas.microsoft.com/office/powerpoint/2010/main" val="30438133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96913-D73D-AD70-8AA9-5EBB02F727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50">
            <a:extLst>
              <a:ext uri="{FF2B5EF4-FFF2-40B4-BE49-F238E27FC236}">
                <a16:creationId xmlns:a16="http://schemas.microsoft.com/office/drawing/2014/main" id="{A7AC9EF9-7F53-D7A6-7314-82CF797BA85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68"/>
          <a:stretch>
            <a:fillRect/>
          </a:stretch>
        </p:blipFill>
        <p:spPr>
          <a:xfrm flipH="1">
            <a:off x="1227201" y="3083433"/>
            <a:ext cx="337154" cy="1869223"/>
          </a:xfrm>
          <a:prstGeom prst="rect">
            <a:avLst/>
          </a:prstGeom>
        </p:spPr>
      </p:pic>
      <p:pic>
        <p:nvPicPr>
          <p:cNvPr id="50" name="Image 49">
            <a:extLst>
              <a:ext uri="{FF2B5EF4-FFF2-40B4-BE49-F238E27FC236}">
                <a16:creationId xmlns:a16="http://schemas.microsoft.com/office/drawing/2014/main" id="{B8A1EB50-188B-C292-8112-77FFC57498C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1468"/>
          <a:stretch>
            <a:fillRect/>
          </a:stretch>
        </p:blipFill>
        <p:spPr>
          <a:xfrm>
            <a:off x="10639454" y="3073705"/>
            <a:ext cx="337154" cy="1869223"/>
          </a:xfrm>
          <a:prstGeom prst="rect">
            <a:avLst/>
          </a:prstGeom>
        </p:spPr>
      </p:pic>
      <p:sp>
        <p:nvSpPr>
          <p:cNvPr id="2" name="Titre 1">
            <a:extLst>
              <a:ext uri="{FF2B5EF4-FFF2-40B4-BE49-F238E27FC236}">
                <a16:creationId xmlns:a16="http://schemas.microsoft.com/office/drawing/2014/main" id="{FD8AF2D4-4622-37BB-1892-C2316E5920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5EAE32EC-D1BC-DB34-CA85-0C5D3DCA255E}"/>
              </a:ext>
            </a:extLst>
          </p:cNvPr>
          <p:cNvSpPr txBox="1"/>
          <p:nvPr/>
        </p:nvSpPr>
        <p:spPr>
          <a:xfrm>
            <a:off x="94241" y="1141195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782A6C37-7314-EE8F-B70A-6D357C1D3D6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5138" y="3328869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4485950E-1191-E57C-A8DD-1BFFEF22B446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26" name="ZoneTexte 25">
            <a:extLst>
              <a:ext uri="{FF2B5EF4-FFF2-40B4-BE49-F238E27FC236}">
                <a16:creationId xmlns:a16="http://schemas.microsoft.com/office/drawing/2014/main" id="{6E3EDF9A-0438-73A0-0363-16480380F957}"/>
              </a:ext>
            </a:extLst>
          </p:cNvPr>
          <p:cNvSpPr txBox="1"/>
          <p:nvPr/>
        </p:nvSpPr>
        <p:spPr>
          <a:xfrm>
            <a:off x="3996891" y="5376377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Spoofing</a:t>
            </a:r>
          </a:p>
        </p:txBody>
      </p:sp>
      <p:sp>
        <p:nvSpPr>
          <p:cNvPr id="31" name="ZoneTexte 30">
            <a:extLst>
              <a:ext uri="{FF2B5EF4-FFF2-40B4-BE49-F238E27FC236}">
                <a16:creationId xmlns:a16="http://schemas.microsoft.com/office/drawing/2014/main" id="{DB2AF5A2-1BBA-CF89-76E2-10C2C9CB9A9E}"/>
              </a:ext>
            </a:extLst>
          </p:cNvPr>
          <p:cNvSpPr txBox="1"/>
          <p:nvPr/>
        </p:nvSpPr>
        <p:spPr>
          <a:xfrm>
            <a:off x="148988" y="3121910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19F65898-BADC-98F5-92D9-57EF68DB194D}"/>
              </a:ext>
            </a:extLst>
          </p:cNvPr>
          <p:cNvSpPr txBox="1"/>
          <p:nvPr/>
        </p:nvSpPr>
        <p:spPr>
          <a:xfrm>
            <a:off x="11077848" y="3144203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sp>
        <p:nvSpPr>
          <p:cNvPr id="35" name="ZoneTexte 34">
            <a:extLst>
              <a:ext uri="{FF2B5EF4-FFF2-40B4-BE49-F238E27FC236}">
                <a16:creationId xmlns:a16="http://schemas.microsoft.com/office/drawing/2014/main" id="{9D3705BC-AEE3-DF9C-980A-E3ECC32DA7A9}"/>
              </a:ext>
            </a:extLst>
          </p:cNvPr>
          <p:cNvSpPr txBox="1"/>
          <p:nvPr/>
        </p:nvSpPr>
        <p:spPr>
          <a:xfrm>
            <a:off x="355274" y="5154549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Repudiation</a:t>
            </a:r>
          </a:p>
        </p:txBody>
      </p:sp>
      <p:sp>
        <p:nvSpPr>
          <p:cNvPr id="42" name="ZoneTexte 41">
            <a:extLst>
              <a:ext uri="{FF2B5EF4-FFF2-40B4-BE49-F238E27FC236}">
                <a16:creationId xmlns:a16="http://schemas.microsoft.com/office/drawing/2014/main" id="{E2DF7BCF-9DA0-AA30-764A-3A6CFE87997C}"/>
              </a:ext>
            </a:extLst>
          </p:cNvPr>
          <p:cNvSpPr txBox="1"/>
          <p:nvPr/>
        </p:nvSpPr>
        <p:spPr>
          <a:xfrm>
            <a:off x="2681235" y="5376377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Info Disclosure</a:t>
            </a:r>
          </a:p>
        </p:txBody>
      </p:sp>
      <p:sp>
        <p:nvSpPr>
          <p:cNvPr id="52" name="ZoneTexte 51">
            <a:extLst>
              <a:ext uri="{FF2B5EF4-FFF2-40B4-BE49-F238E27FC236}">
                <a16:creationId xmlns:a16="http://schemas.microsoft.com/office/drawing/2014/main" id="{12117269-606D-E63A-34E6-D6268066C677}"/>
              </a:ext>
            </a:extLst>
          </p:cNvPr>
          <p:cNvSpPr txBox="1"/>
          <p:nvPr/>
        </p:nvSpPr>
        <p:spPr>
          <a:xfrm>
            <a:off x="135686" y="3599333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Elevation of</a:t>
            </a:r>
            <a:br>
              <a:rPr lang="en-GB" dirty="0">
                <a:latin typeface="Agency FB" panose="020B0503020202020204" pitchFamily="34" charset="0"/>
              </a:rPr>
            </a:br>
            <a:r>
              <a:rPr lang="en-GB" dirty="0">
                <a:latin typeface="Agency FB" panose="020B0503020202020204" pitchFamily="34" charset="0"/>
              </a:rPr>
              <a:t>Privilege</a:t>
            </a:r>
          </a:p>
        </p:txBody>
      </p:sp>
      <p:sp>
        <p:nvSpPr>
          <p:cNvPr id="53" name="ZoneTexte 52">
            <a:extLst>
              <a:ext uri="{FF2B5EF4-FFF2-40B4-BE49-F238E27FC236}">
                <a16:creationId xmlns:a16="http://schemas.microsoft.com/office/drawing/2014/main" id="{D58B13CC-7105-4156-A94F-4EE61C2204EC}"/>
              </a:ext>
            </a:extLst>
          </p:cNvPr>
          <p:cNvSpPr txBox="1"/>
          <p:nvPr/>
        </p:nvSpPr>
        <p:spPr>
          <a:xfrm>
            <a:off x="11040179" y="3657508"/>
            <a:ext cx="1024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Elevation of</a:t>
            </a:r>
            <a:br>
              <a:rPr lang="en-GB" dirty="0">
                <a:latin typeface="Agency FB" panose="020B0503020202020204" pitchFamily="34" charset="0"/>
              </a:rPr>
            </a:br>
            <a:r>
              <a:rPr lang="en-GB" dirty="0">
                <a:latin typeface="Agency FB" panose="020B0503020202020204" pitchFamily="34" charset="0"/>
              </a:rPr>
              <a:t>Privilege</a:t>
            </a:r>
          </a:p>
        </p:txBody>
      </p:sp>
      <p:cxnSp>
        <p:nvCxnSpPr>
          <p:cNvPr id="55" name="Connecteur droit 54">
            <a:extLst>
              <a:ext uri="{FF2B5EF4-FFF2-40B4-BE49-F238E27FC236}">
                <a16:creationId xmlns:a16="http://schemas.microsoft.com/office/drawing/2014/main" id="{47CC2423-F2EA-FF55-0DF6-749B0A834771}"/>
              </a:ext>
            </a:extLst>
          </p:cNvPr>
          <p:cNvCxnSpPr>
            <a:cxnSpLocks/>
            <a:stCxn id="31" idx="3"/>
          </p:cNvCxnSpPr>
          <p:nvPr/>
        </p:nvCxnSpPr>
        <p:spPr>
          <a:xfrm>
            <a:off x="1098287" y="3306576"/>
            <a:ext cx="203706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Connecteur droit 56">
            <a:extLst>
              <a:ext uri="{FF2B5EF4-FFF2-40B4-BE49-F238E27FC236}">
                <a16:creationId xmlns:a16="http://schemas.microsoft.com/office/drawing/2014/main" id="{EBFA56BC-5EB1-FB7F-9FEF-93C6330FC9A7}"/>
              </a:ext>
            </a:extLst>
          </p:cNvPr>
          <p:cNvCxnSpPr>
            <a:cxnSpLocks/>
            <a:stCxn id="52" idx="3"/>
          </p:cNvCxnSpPr>
          <p:nvPr/>
        </p:nvCxnSpPr>
        <p:spPr>
          <a:xfrm>
            <a:off x="1160325" y="3922499"/>
            <a:ext cx="155547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Connecteur droit 57">
            <a:extLst>
              <a:ext uri="{FF2B5EF4-FFF2-40B4-BE49-F238E27FC236}">
                <a16:creationId xmlns:a16="http://schemas.microsoft.com/office/drawing/2014/main" id="{4B0BDB8B-A70A-9835-5B4F-0FEF5F8B5977}"/>
              </a:ext>
            </a:extLst>
          </p:cNvPr>
          <p:cNvCxnSpPr>
            <a:cxnSpLocks/>
            <a:endCxn id="33" idx="1"/>
          </p:cNvCxnSpPr>
          <p:nvPr/>
        </p:nvCxnSpPr>
        <p:spPr>
          <a:xfrm>
            <a:off x="10903059" y="3328869"/>
            <a:ext cx="174789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Connecteur droit 58">
            <a:extLst>
              <a:ext uri="{FF2B5EF4-FFF2-40B4-BE49-F238E27FC236}">
                <a16:creationId xmlns:a16="http://schemas.microsoft.com/office/drawing/2014/main" id="{666684E5-09C8-737C-3D37-68F56F0C9B8C}"/>
              </a:ext>
            </a:extLst>
          </p:cNvPr>
          <p:cNvCxnSpPr>
            <a:cxnSpLocks/>
            <a:endCxn id="53" idx="1"/>
          </p:cNvCxnSpPr>
          <p:nvPr/>
        </p:nvCxnSpPr>
        <p:spPr>
          <a:xfrm>
            <a:off x="10899774" y="3980674"/>
            <a:ext cx="140405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0" name="ZoneTexte 59">
            <a:extLst>
              <a:ext uri="{FF2B5EF4-FFF2-40B4-BE49-F238E27FC236}">
                <a16:creationId xmlns:a16="http://schemas.microsoft.com/office/drawing/2014/main" id="{A7C65B7E-61C6-5A3A-FCA1-F82A66CBD3CE}"/>
              </a:ext>
            </a:extLst>
          </p:cNvPr>
          <p:cNvSpPr txBox="1"/>
          <p:nvPr/>
        </p:nvSpPr>
        <p:spPr>
          <a:xfrm>
            <a:off x="104627" y="4296534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7416B1F8-6409-5583-E0FB-45AC0093B1DD}"/>
              </a:ext>
            </a:extLst>
          </p:cNvPr>
          <p:cNvCxnSpPr>
            <a:cxnSpLocks/>
          </p:cNvCxnSpPr>
          <p:nvPr/>
        </p:nvCxnSpPr>
        <p:spPr>
          <a:xfrm>
            <a:off x="3231081" y="4333023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7" name="Groupe 66">
            <a:extLst>
              <a:ext uri="{FF2B5EF4-FFF2-40B4-BE49-F238E27FC236}">
                <a16:creationId xmlns:a16="http://schemas.microsoft.com/office/drawing/2014/main" id="{6D13094E-194B-E056-FCAB-61861F1DCCB4}"/>
              </a:ext>
            </a:extLst>
          </p:cNvPr>
          <p:cNvGrpSpPr/>
          <p:nvPr/>
        </p:nvGrpSpPr>
        <p:grpSpPr>
          <a:xfrm>
            <a:off x="1393401" y="2102478"/>
            <a:ext cx="9405197" cy="3104030"/>
            <a:chOff x="1393401" y="2102478"/>
            <a:chExt cx="9405197" cy="3104030"/>
          </a:xfrm>
        </p:grpSpPr>
        <p:grpSp>
          <p:nvGrpSpPr>
            <p:cNvPr id="5" name="Groupe 4">
              <a:extLst>
                <a:ext uri="{FF2B5EF4-FFF2-40B4-BE49-F238E27FC236}">
                  <a16:creationId xmlns:a16="http://schemas.microsoft.com/office/drawing/2014/main" id="{E6F29957-FB92-615E-828D-9E02A6FC2736}"/>
                </a:ext>
              </a:extLst>
            </p:cNvPr>
            <p:cNvGrpSpPr/>
            <p:nvPr/>
          </p:nvGrpSpPr>
          <p:grpSpPr>
            <a:xfrm>
              <a:off x="1393401" y="2102478"/>
              <a:ext cx="9405197" cy="3104030"/>
              <a:chOff x="1254868" y="1529657"/>
              <a:chExt cx="9405197" cy="3104030"/>
            </a:xfrm>
          </p:grpSpPr>
          <p:grpSp>
            <p:nvGrpSpPr>
              <p:cNvPr id="6" name="Groupe 5">
                <a:extLst>
                  <a:ext uri="{FF2B5EF4-FFF2-40B4-BE49-F238E27FC236}">
                    <a16:creationId xmlns:a16="http://schemas.microsoft.com/office/drawing/2014/main" id="{5B684C3B-3BD4-E393-C681-44E1718FC5EB}"/>
                  </a:ext>
                </a:extLst>
              </p:cNvPr>
              <p:cNvGrpSpPr/>
              <p:nvPr/>
            </p:nvGrpSpPr>
            <p:grpSpPr>
              <a:xfrm>
                <a:off x="1254868" y="2276272"/>
                <a:ext cx="9405197" cy="2305456"/>
                <a:chOff x="1254868" y="2276272"/>
                <a:chExt cx="9405197" cy="2305456"/>
              </a:xfrm>
            </p:grpSpPr>
            <p:sp>
              <p:nvSpPr>
                <p:cNvPr id="19" name="Rectangle : coins arrondis 18">
                  <a:extLst>
                    <a:ext uri="{FF2B5EF4-FFF2-40B4-BE49-F238E27FC236}">
                      <a16:creationId xmlns:a16="http://schemas.microsoft.com/office/drawing/2014/main" id="{86DCB3FA-06EE-04A6-74C9-F79C5A8CE664}"/>
                    </a:ext>
                  </a:extLst>
                </p:cNvPr>
                <p:cNvSpPr/>
                <p:nvPr/>
              </p:nvSpPr>
              <p:spPr>
                <a:xfrm>
                  <a:off x="1254868" y="2704289"/>
                  <a:ext cx="1643975" cy="1449422"/>
                </a:xfrm>
                <a:prstGeom prst="roundRect">
                  <a:avLst>
                    <a:gd name="adj" fmla="val 7271"/>
                  </a:avLst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Publisher</a:t>
                  </a:r>
                </a:p>
                <a:p>
                  <a:pPr algn="ctr"/>
                  <a:r>
                    <a:rPr lang="en-GB" dirty="0"/>
                    <a:t>ESP32</a:t>
                  </a:r>
                </a:p>
              </p:txBody>
            </p:sp>
            <p:sp>
              <p:nvSpPr>
                <p:cNvPr id="20" name="Rectangle : coins arrondis 19">
                  <a:extLst>
                    <a:ext uri="{FF2B5EF4-FFF2-40B4-BE49-F238E27FC236}">
                      <a16:creationId xmlns:a16="http://schemas.microsoft.com/office/drawing/2014/main" id="{DE4CF976-5903-3FCC-F1F2-6F8D273AF7D3}"/>
                    </a:ext>
                  </a:extLst>
                </p:cNvPr>
                <p:cNvSpPr/>
                <p:nvPr/>
              </p:nvSpPr>
              <p:spPr>
                <a:xfrm>
                  <a:off x="9016090" y="2704289"/>
                  <a:ext cx="1643975" cy="1449422"/>
                </a:xfrm>
                <a:prstGeom prst="roundRect">
                  <a:avLst>
                    <a:gd name="adj" fmla="val 7271"/>
                  </a:avLst>
                </a:prstGeom>
                <a:solidFill>
                  <a:schemeClr val="accent1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Subscriber</a:t>
                  </a:r>
                </a:p>
                <a:p>
                  <a:pPr algn="ctr"/>
                  <a:r>
                    <a:rPr lang="en-GB" dirty="0"/>
                    <a:t>ESP32</a:t>
                  </a:r>
                </a:p>
              </p:txBody>
            </p:sp>
            <p:sp>
              <p:nvSpPr>
                <p:cNvPr id="23" name="Ellipse 22">
                  <a:extLst>
                    <a:ext uri="{FF2B5EF4-FFF2-40B4-BE49-F238E27FC236}">
                      <a16:creationId xmlns:a16="http://schemas.microsoft.com/office/drawing/2014/main" id="{DF29602A-07AD-E82C-F276-09D2256DFAE9}"/>
                    </a:ext>
                  </a:extLst>
                </p:cNvPr>
                <p:cNvSpPr/>
                <p:nvPr/>
              </p:nvSpPr>
              <p:spPr>
                <a:xfrm>
                  <a:off x="4742236" y="2276272"/>
                  <a:ext cx="2305456" cy="2305456"/>
                </a:xfrm>
                <a:prstGeom prst="ellipse">
                  <a:avLst/>
                </a:prstGeom>
                <a:solidFill>
                  <a:schemeClr val="bg2">
                    <a:lumMod val="75000"/>
                  </a:schemeClr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dirty="0"/>
                    <a:t>MQTT Broker</a:t>
                  </a:r>
                </a:p>
              </p:txBody>
            </p:sp>
            <p:sp>
              <p:nvSpPr>
                <p:cNvPr id="24" name="Flèche : droite 23">
                  <a:extLst>
                    <a:ext uri="{FF2B5EF4-FFF2-40B4-BE49-F238E27FC236}">
                      <a16:creationId xmlns:a16="http://schemas.microsoft.com/office/drawing/2014/main" id="{2EC861CE-FD90-82E1-D489-3BFA5BE591A0}"/>
                    </a:ext>
                  </a:extLst>
                </p:cNvPr>
                <p:cNvSpPr/>
                <p:nvPr/>
              </p:nvSpPr>
              <p:spPr>
                <a:xfrm>
                  <a:off x="3032595" y="3157631"/>
                  <a:ext cx="1568586" cy="485057"/>
                </a:xfrm>
                <a:prstGeom prst="rightArrow">
                  <a:avLst>
                    <a:gd name="adj1" fmla="val 66044"/>
                    <a:gd name="adj2" fmla="val 50000"/>
                  </a:avLst>
                </a:prstGeom>
                <a:gradFill>
                  <a:gsLst>
                    <a:gs pos="0">
                      <a:schemeClr val="accent1">
                        <a:lumMod val="75000"/>
                      </a:schemeClr>
                    </a:gs>
                    <a:gs pos="100000">
                      <a:schemeClr val="bg2">
                        <a:lumMod val="75000"/>
                      </a:schemeClr>
                    </a:gs>
                  </a:gsLst>
                  <a:lin ang="0" scaled="0"/>
                </a:gra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GB" sz="1400" dirty="0">
                      <a:solidFill>
                        <a:schemeClr val="tx1"/>
                      </a:solidFill>
                      <a:latin typeface="Agency FB" panose="020B0503020202020204" pitchFamily="34" charset="0"/>
                    </a:rPr>
                    <a:t>NETWORK</a:t>
                  </a:r>
                </a:p>
              </p:txBody>
            </p:sp>
          </p:grpSp>
          <p:sp>
            <p:nvSpPr>
              <p:cNvPr id="10" name="Ellipse 9">
                <a:extLst>
                  <a:ext uri="{FF2B5EF4-FFF2-40B4-BE49-F238E27FC236}">
                    <a16:creationId xmlns:a16="http://schemas.microsoft.com/office/drawing/2014/main" id="{8004159C-A901-60C6-C6C6-D93D308CCD4B}"/>
                  </a:ext>
                </a:extLst>
              </p:cNvPr>
              <p:cNvSpPr/>
              <p:nvPr/>
            </p:nvSpPr>
            <p:spPr>
              <a:xfrm>
                <a:off x="4698504" y="2233939"/>
                <a:ext cx="2399748" cy="2399748"/>
              </a:xfrm>
              <a:prstGeom prst="ellipse">
                <a:avLst/>
              </a:pr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2" name="ZoneTexte 11">
                <a:extLst>
                  <a:ext uri="{FF2B5EF4-FFF2-40B4-BE49-F238E27FC236}">
                    <a16:creationId xmlns:a16="http://schemas.microsoft.com/office/drawing/2014/main" id="{9931D90F-5D1F-1FBC-454A-335E62B572B8}"/>
                  </a:ext>
                </a:extLst>
              </p:cNvPr>
              <p:cNvSpPr txBox="1"/>
              <p:nvPr/>
            </p:nvSpPr>
            <p:spPr>
              <a:xfrm>
                <a:off x="4871485" y="1529657"/>
                <a:ext cx="1927131" cy="646331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GB" b="1" dirty="0">
                    <a:solidFill>
                      <a:schemeClr val="accent3">
                        <a:lumMod val="75000"/>
                      </a:schemeClr>
                    </a:solidFill>
                  </a:rPr>
                  <a:t>Trust Boundary</a:t>
                </a:r>
                <a:br>
                  <a:rPr lang="en-GB" b="1" dirty="0">
                    <a:solidFill>
                      <a:schemeClr val="accent3">
                        <a:lumMod val="75000"/>
                      </a:schemeClr>
                    </a:solidFill>
                  </a:rPr>
                </a:br>
                <a:r>
                  <a:rPr lang="en-GB" b="1" dirty="0">
                    <a:solidFill>
                      <a:schemeClr val="accent3">
                        <a:lumMod val="75000"/>
                      </a:schemeClr>
                    </a:solidFill>
                  </a:rPr>
                  <a:t>Computer</a:t>
                </a:r>
              </a:p>
            </p:txBody>
          </p:sp>
        </p:grpSp>
        <p:sp>
          <p:nvSpPr>
            <p:cNvPr id="66" name="Flèche : droite 65">
              <a:extLst>
                <a:ext uri="{FF2B5EF4-FFF2-40B4-BE49-F238E27FC236}">
                  <a16:creationId xmlns:a16="http://schemas.microsoft.com/office/drawing/2014/main" id="{521510CD-3C7F-1AF8-98A4-59EB642FF56E}"/>
                </a:ext>
              </a:extLst>
            </p:cNvPr>
            <p:cNvSpPr/>
            <p:nvPr/>
          </p:nvSpPr>
          <p:spPr>
            <a:xfrm>
              <a:off x="7392332" y="3737514"/>
              <a:ext cx="1568586" cy="485057"/>
            </a:xfrm>
            <a:prstGeom prst="rightArrow">
              <a:avLst>
                <a:gd name="adj1" fmla="val 66044"/>
                <a:gd name="adj2" fmla="val 50000"/>
              </a:avLst>
            </a:prstGeom>
            <a:gradFill>
              <a:gsLst>
                <a:gs pos="0">
                  <a:schemeClr val="accent1">
                    <a:lumMod val="75000"/>
                  </a:schemeClr>
                </a:gs>
                <a:gs pos="100000">
                  <a:schemeClr val="bg2">
                    <a:lumMod val="75000"/>
                  </a:schemeClr>
                </a:gs>
              </a:gsLst>
              <a:lin ang="0" scaled="0"/>
            </a:gra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1400" dirty="0">
                  <a:solidFill>
                    <a:schemeClr val="tx1"/>
                  </a:solidFill>
                  <a:latin typeface="Agency FB" panose="020B0503020202020204" pitchFamily="34" charset="0"/>
                </a:rPr>
                <a:t>NETWORK</a:t>
              </a:r>
            </a:p>
          </p:txBody>
        </p:sp>
      </p:grpSp>
      <p:cxnSp>
        <p:nvCxnSpPr>
          <p:cNvPr id="70" name="Connecteur droit 69">
            <a:extLst>
              <a:ext uri="{FF2B5EF4-FFF2-40B4-BE49-F238E27FC236}">
                <a16:creationId xmlns:a16="http://schemas.microsoft.com/office/drawing/2014/main" id="{96327CE4-5DB9-541C-9EC1-EC392DBE7FAF}"/>
              </a:ext>
            </a:extLst>
          </p:cNvPr>
          <p:cNvCxnSpPr>
            <a:cxnSpLocks/>
            <a:endCxn id="42" idx="0"/>
          </p:cNvCxnSpPr>
          <p:nvPr/>
        </p:nvCxnSpPr>
        <p:spPr>
          <a:xfrm>
            <a:off x="3315872" y="4333023"/>
            <a:ext cx="5122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Connecteur droit 71">
            <a:extLst>
              <a:ext uri="{FF2B5EF4-FFF2-40B4-BE49-F238E27FC236}">
                <a16:creationId xmlns:a16="http://schemas.microsoft.com/office/drawing/2014/main" id="{0B74F6B1-0A38-0095-75DF-4868254EA1A6}"/>
              </a:ext>
            </a:extLst>
          </p:cNvPr>
          <p:cNvCxnSpPr>
            <a:cxnSpLocks/>
            <a:endCxn id="26" idx="0"/>
          </p:cNvCxnSpPr>
          <p:nvPr/>
        </p:nvCxnSpPr>
        <p:spPr>
          <a:xfrm>
            <a:off x="4403413" y="4333023"/>
            <a:ext cx="0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Connecteur droit 76">
            <a:extLst>
              <a:ext uri="{FF2B5EF4-FFF2-40B4-BE49-F238E27FC236}">
                <a16:creationId xmlns:a16="http://schemas.microsoft.com/office/drawing/2014/main" id="{9DAB893A-94BD-DB7A-FED2-F077456AE227}"/>
              </a:ext>
            </a:extLst>
          </p:cNvPr>
          <p:cNvCxnSpPr>
            <a:cxnSpLocks/>
          </p:cNvCxnSpPr>
          <p:nvPr/>
        </p:nvCxnSpPr>
        <p:spPr>
          <a:xfrm>
            <a:off x="3945646" y="4345656"/>
            <a:ext cx="0" cy="173002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ZoneTexte 78">
            <a:extLst>
              <a:ext uri="{FF2B5EF4-FFF2-40B4-BE49-F238E27FC236}">
                <a16:creationId xmlns:a16="http://schemas.microsoft.com/office/drawing/2014/main" id="{CF5A99EA-FFC5-E794-D607-C53A85F44D62}"/>
              </a:ext>
            </a:extLst>
          </p:cNvPr>
          <p:cNvSpPr txBox="1"/>
          <p:nvPr/>
        </p:nvSpPr>
        <p:spPr>
          <a:xfrm>
            <a:off x="3445596" y="6026222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cxnSp>
        <p:nvCxnSpPr>
          <p:cNvPr id="80" name="Connecteur droit 79">
            <a:extLst>
              <a:ext uri="{FF2B5EF4-FFF2-40B4-BE49-F238E27FC236}">
                <a16:creationId xmlns:a16="http://schemas.microsoft.com/office/drawing/2014/main" id="{AB351E39-C69A-CDAE-F0E4-CCA535FF55AB}"/>
              </a:ext>
            </a:extLst>
          </p:cNvPr>
          <p:cNvCxnSpPr>
            <a:cxnSpLocks/>
            <a:stCxn id="60" idx="3"/>
          </p:cNvCxnSpPr>
          <p:nvPr/>
        </p:nvCxnSpPr>
        <p:spPr>
          <a:xfrm flipV="1">
            <a:off x="1130349" y="4619699"/>
            <a:ext cx="166984" cy="1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ZoneTexte 81">
            <a:extLst>
              <a:ext uri="{FF2B5EF4-FFF2-40B4-BE49-F238E27FC236}">
                <a16:creationId xmlns:a16="http://schemas.microsoft.com/office/drawing/2014/main" id="{4A16620A-DA94-DBEB-C140-E8CCDF4E573D}"/>
              </a:ext>
            </a:extLst>
          </p:cNvPr>
          <p:cNvSpPr txBox="1"/>
          <p:nvPr/>
        </p:nvSpPr>
        <p:spPr>
          <a:xfrm>
            <a:off x="11077848" y="4309311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83" name="Connecteur droit 82">
            <a:extLst>
              <a:ext uri="{FF2B5EF4-FFF2-40B4-BE49-F238E27FC236}">
                <a16:creationId xmlns:a16="http://schemas.microsoft.com/office/drawing/2014/main" id="{EB123A64-0E41-DA91-037D-DBB2C254B410}"/>
              </a:ext>
            </a:extLst>
          </p:cNvPr>
          <p:cNvCxnSpPr>
            <a:cxnSpLocks/>
            <a:stCxn id="82" idx="1"/>
          </p:cNvCxnSpPr>
          <p:nvPr/>
        </p:nvCxnSpPr>
        <p:spPr>
          <a:xfrm flipH="1">
            <a:off x="10899258" y="4632477"/>
            <a:ext cx="178590" cy="0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ZoneTexte 90">
            <a:extLst>
              <a:ext uri="{FF2B5EF4-FFF2-40B4-BE49-F238E27FC236}">
                <a16:creationId xmlns:a16="http://schemas.microsoft.com/office/drawing/2014/main" id="{DF64D171-A0B9-3D1A-EBD6-F44450A7E94E}"/>
              </a:ext>
            </a:extLst>
          </p:cNvPr>
          <p:cNvSpPr txBox="1"/>
          <p:nvPr/>
        </p:nvSpPr>
        <p:spPr>
          <a:xfrm>
            <a:off x="3334960" y="2596620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92" name="Connecteur droit 91">
            <a:extLst>
              <a:ext uri="{FF2B5EF4-FFF2-40B4-BE49-F238E27FC236}">
                <a16:creationId xmlns:a16="http://schemas.microsoft.com/office/drawing/2014/main" id="{D7FC3E60-2CE5-BB3C-AF55-E126F0A742CF}"/>
              </a:ext>
            </a:extLst>
          </p:cNvPr>
          <p:cNvCxnSpPr>
            <a:cxnSpLocks/>
          </p:cNvCxnSpPr>
          <p:nvPr/>
        </p:nvCxnSpPr>
        <p:spPr>
          <a:xfrm>
            <a:off x="3220532" y="3639973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Connecteur droit 92">
            <a:extLst>
              <a:ext uri="{FF2B5EF4-FFF2-40B4-BE49-F238E27FC236}">
                <a16:creationId xmlns:a16="http://schemas.microsoft.com/office/drawing/2014/main" id="{9D9F7CBE-26E1-3E9C-A093-BD6107BA4A2E}"/>
              </a:ext>
            </a:extLst>
          </p:cNvPr>
          <p:cNvCxnSpPr>
            <a:cxnSpLocks/>
            <a:stCxn id="91" idx="2"/>
          </p:cNvCxnSpPr>
          <p:nvPr/>
        </p:nvCxnSpPr>
        <p:spPr>
          <a:xfrm>
            <a:off x="3847821" y="3242951"/>
            <a:ext cx="0" cy="40919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9" name="ZoneTexte 98">
            <a:extLst>
              <a:ext uri="{FF2B5EF4-FFF2-40B4-BE49-F238E27FC236}">
                <a16:creationId xmlns:a16="http://schemas.microsoft.com/office/drawing/2014/main" id="{285EEB11-DEF9-7879-6DFF-925607184B8E}"/>
              </a:ext>
            </a:extLst>
          </p:cNvPr>
          <p:cNvSpPr txBox="1"/>
          <p:nvPr/>
        </p:nvSpPr>
        <p:spPr>
          <a:xfrm>
            <a:off x="8254499" y="5372641"/>
            <a:ext cx="8130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Spoofing</a:t>
            </a:r>
          </a:p>
        </p:txBody>
      </p:sp>
      <p:sp>
        <p:nvSpPr>
          <p:cNvPr id="100" name="ZoneTexte 99">
            <a:extLst>
              <a:ext uri="{FF2B5EF4-FFF2-40B4-BE49-F238E27FC236}">
                <a16:creationId xmlns:a16="http://schemas.microsoft.com/office/drawing/2014/main" id="{3868B794-1C20-8DD3-9814-ADCDA08B90F9}"/>
              </a:ext>
            </a:extLst>
          </p:cNvPr>
          <p:cNvSpPr txBox="1"/>
          <p:nvPr/>
        </p:nvSpPr>
        <p:spPr>
          <a:xfrm>
            <a:off x="6938843" y="5372641"/>
            <a:ext cx="12795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Info Disclosure</a:t>
            </a:r>
          </a:p>
        </p:txBody>
      </p:sp>
      <p:cxnSp>
        <p:nvCxnSpPr>
          <p:cNvPr id="101" name="Connecteur droit 100">
            <a:extLst>
              <a:ext uri="{FF2B5EF4-FFF2-40B4-BE49-F238E27FC236}">
                <a16:creationId xmlns:a16="http://schemas.microsoft.com/office/drawing/2014/main" id="{D0BCC77E-A899-3B1B-303D-7D51850DA9D3}"/>
              </a:ext>
            </a:extLst>
          </p:cNvPr>
          <p:cNvCxnSpPr>
            <a:cxnSpLocks/>
          </p:cNvCxnSpPr>
          <p:nvPr/>
        </p:nvCxnSpPr>
        <p:spPr>
          <a:xfrm>
            <a:off x="7488689" y="4329287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Connecteur droit 101">
            <a:extLst>
              <a:ext uri="{FF2B5EF4-FFF2-40B4-BE49-F238E27FC236}">
                <a16:creationId xmlns:a16="http://schemas.microsoft.com/office/drawing/2014/main" id="{5F11F209-E694-C4B1-F547-3AA05E7B6944}"/>
              </a:ext>
            </a:extLst>
          </p:cNvPr>
          <p:cNvCxnSpPr>
            <a:cxnSpLocks/>
            <a:endCxn id="100" idx="0"/>
          </p:cNvCxnSpPr>
          <p:nvPr/>
        </p:nvCxnSpPr>
        <p:spPr>
          <a:xfrm>
            <a:off x="7573480" y="4329287"/>
            <a:ext cx="5122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Connecteur droit 102">
            <a:extLst>
              <a:ext uri="{FF2B5EF4-FFF2-40B4-BE49-F238E27FC236}">
                <a16:creationId xmlns:a16="http://schemas.microsoft.com/office/drawing/2014/main" id="{0251D2A0-60B5-E46D-A9FA-9189D4C27966}"/>
              </a:ext>
            </a:extLst>
          </p:cNvPr>
          <p:cNvCxnSpPr>
            <a:cxnSpLocks/>
            <a:endCxn id="99" idx="0"/>
          </p:cNvCxnSpPr>
          <p:nvPr/>
        </p:nvCxnSpPr>
        <p:spPr>
          <a:xfrm>
            <a:off x="8661021" y="4329287"/>
            <a:ext cx="0" cy="104335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Connecteur droit 103">
            <a:extLst>
              <a:ext uri="{FF2B5EF4-FFF2-40B4-BE49-F238E27FC236}">
                <a16:creationId xmlns:a16="http://schemas.microsoft.com/office/drawing/2014/main" id="{BF3165AD-E0CE-B298-168F-B27D54A2E873}"/>
              </a:ext>
            </a:extLst>
          </p:cNvPr>
          <p:cNvCxnSpPr>
            <a:cxnSpLocks/>
          </p:cNvCxnSpPr>
          <p:nvPr/>
        </p:nvCxnSpPr>
        <p:spPr>
          <a:xfrm>
            <a:off x="8203254" y="4341920"/>
            <a:ext cx="0" cy="173002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ZoneTexte 104">
            <a:extLst>
              <a:ext uri="{FF2B5EF4-FFF2-40B4-BE49-F238E27FC236}">
                <a16:creationId xmlns:a16="http://schemas.microsoft.com/office/drawing/2014/main" id="{A19BDF52-BDD4-C23E-58C0-FB0002B6304C}"/>
              </a:ext>
            </a:extLst>
          </p:cNvPr>
          <p:cNvSpPr txBox="1"/>
          <p:nvPr/>
        </p:nvSpPr>
        <p:spPr>
          <a:xfrm>
            <a:off x="7703204" y="6022486"/>
            <a:ext cx="9492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Tampering</a:t>
            </a:r>
          </a:p>
        </p:txBody>
      </p:sp>
      <p:sp>
        <p:nvSpPr>
          <p:cNvPr id="106" name="ZoneTexte 105">
            <a:extLst>
              <a:ext uri="{FF2B5EF4-FFF2-40B4-BE49-F238E27FC236}">
                <a16:creationId xmlns:a16="http://schemas.microsoft.com/office/drawing/2014/main" id="{FA35A5D8-92DC-ACB8-DFDF-2037A6BBF431}"/>
              </a:ext>
            </a:extLst>
          </p:cNvPr>
          <p:cNvSpPr txBox="1"/>
          <p:nvPr/>
        </p:nvSpPr>
        <p:spPr>
          <a:xfrm>
            <a:off x="7550470" y="2596620"/>
            <a:ext cx="1025722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Denials of Service</a:t>
            </a:r>
          </a:p>
        </p:txBody>
      </p:sp>
      <p:cxnSp>
        <p:nvCxnSpPr>
          <p:cNvPr id="107" name="Connecteur droit 106">
            <a:extLst>
              <a:ext uri="{FF2B5EF4-FFF2-40B4-BE49-F238E27FC236}">
                <a16:creationId xmlns:a16="http://schemas.microsoft.com/office/drawing/2014/main" id="{D6B11E3B-AF15-1E8C-D729-4D2CFB2731AA}"/>
              </a:ext>
            </a:extLst>
          </p:cNvPr>
          <p:cNvCxnSpPr>
            <a:cxnSpLocks/>
          </p:cNvCxnSpPr>
          <p:nvPr/>
        </p:nvCxnSpPr>
        <p:spPr>
          <a:xfrm>
            <a:off x="7436042" y="3639973"/>
            <a:ext cx="1280424" cy="0"/>
          </a:xfrm>
          <a:prstGeom prst="line">
            <a:avLst/>
          </a:prstGeom>
          <a:ln w="5715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Connecteur droit 107">
            <a:extLst>
              <a:ext uri="{FF2B5EF4-FFF2-40B4-BE49-F238E27FC236}">
                <a16:creationId xmlns:a16="http://schemas.microsoft.com/office/drawing/2014/main" id="{D7C50A6C-3AE5-967D-4CF8-8852DFF26F73}"/>
              </a:ext>
            </a:extLst>
          </p:cNvPr>
          <p:cNvCxnSpPr>
            <a:cxnSpLocks/>
            <a:stCxn id="106" idx="2"/>
          </p:cNvCxnSpPr>
          <p:nvPr/>
        </p:nvCxnSpPr>
        <p:spPr>
          <a:xfrm>
            <a:off x="8063331" y="3242951"/>
            <a:ext cx="0" cy="409194"/>
          </a:xfrm>
          <a:prstGeom prst="line">
            <a:avLst/>
          </a:prstGeom>
          <a:ln w="381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9" name="ZoneTexte 108">
            <a:extLst>
              <a:ext uri="{FF2B5EF4-FFF2-40B4-BE49-F238E27FC236}">
                <a16:creationId xmlns:a16="http://schemas.microsoft.com/office/drawing/2014/main" id="{0ABFC2FF-C8FA-B1ED-8799-8C9DA6FD3427}"/>
              </a:ext>
            </a:extLst>
          </p:cNvPr>
          <p:cNvSpPr txBox="1"/>
          <p:nvPr/>
        </p:nvSpPr>
        <p:spPr>
          <a:xfrm>
            <a:off x="3771171" y="1804764"/>
            <a:ext cx="103265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Repudiation</a:t>
            </a:r>
          </a:p>
        </p:txBody>
      </p:sp>
      <p:cxnSp>
        <p:nvCxnSpPr>
          <p:cNvPr id="110" name="Connecteur droit 109">
            <a:extLst>
              <a:ext uri="{FF2B5EF4-FFF2-40B4-BE49-F238E27FC236}">
                <a16:creationId xmlns:a16="http://schemas.microsoft.com/office/drawing/2014/main" id="{5DC1990B-54D1-C72B-6940-E69E4BD66F0B}"/>
              </a:ext>
            </a:extLst>
          </p:cNvPr>
          <p:cNvCxnSpPr>
            <a:cxnSpLocks/>
            <a:stCxn id="35" idx="0"/>
          </p:cNvCxnSpPr>
          <p:nvPr/>
        </p:nvCxnSpPr>
        <p:spPr>
          <a:xfrm flipV="1">
            <a:off x="871602" y="4786866"/>
            <a:ext cx="443888" cy="367683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3" name="ZoneTexte 112">
            <a:extLst>
              <a:ext uri="{FF2B5EF4-FFF2-40B4-BE49-F238E27FC236}">
                <a16:creationId xmlns:a16="http://schemas.microsoft.com/office/drawing/2014/main" id="{9F351F71-94D4-AACB-0136-A6B642323D71}"/>
              </a:ext>
            </a:extLst>
          </p:cNvPr>
          <p:cNvSpPr txBox="1"/>
          <p:nvPr/>
        </p:nvSpPr>
        <p:spPr>
          <a:xfrm>
            <a:off x="10971922" y="5206508"/>
            <a:ext cx="11498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Repudiation</a:t>
            </a:r>
          </a:p>
        </p:txBody>
      </p:sp>
      <p:cxnSp>
        <p:nvCxnSpPr>
          <p:cNvPr id="114" name="Connecteur droit 113">
            <a:extLst>
              <a:ext uri="{FF2B5EF4-FFF2-40B4-BE49-F238E27FC236}">
                <a16:creationId xmlns:a16="http://schemas.microsoft.com/office/drawing/2014/main" id="{1A2A46F8-5938-213C-A1D1-4FB61D6E3170}"/>
              </a:ext>
            </a:extLst>
          </p:cNvPr>
          <p:cNvCxnSpPr>
            <a:cxnSpLocks/>
            <a:stCxn id="113" idx="0"/>
          </p:cNvCxnSpPr>
          <p:nvPr/>
        </p:nvCxnSpPr>
        <p:spPr>
          <a:xfrm flipH="1" flipV="1">
            <a:off x="10875645" y="4786866"/>
            <a:ext cx="671207" cy="419642"/>
          </a:xfrm>
          <a:prstGeom prst="line">
            <a:avLst/>
          </a:prstGeom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Connecteur droit 117">
            <a:extLst>
              <a:ext uri="{FF2B5EF4-FFF2-40B4-BE49-F238E27FC236}">
                <a16:creationId xmlns:a16="http://schemas.microsoft.com/office/drawing/2014/main" id="{797471ED-AD72-9211-5D46-3293EF888EBB}"/>
              </a:ext>
            </a:extLst>
          </p:cNvPr>
          <p:cNvCxnSpPr>
            <a:stCxn id="109" idx="2"/>
            <a:endCxn id="10" idx="1"/>
          </p:cNvCxnSpPr>
          <p:nvPr/>
        </p:nvCxnSpPr>
        <p:spPr>
          <a:xfrm>
            <a:off x="4287499" y="2174096"/>
            <a:ext cx="900973" cy="984099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3091398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A3DCB4-1A37-BD71-73B5-77F5A0049B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C59C276-86CC-8602-1855-C4BB2C98507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DF70185-25DE-0FD5-B326-21EDD4A5A039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1145D135-3BAD-72E0-7D48-55E0EB39C30A}"/>
              </a:ext>
            </a:extLst>
          </p:cNvPr>
          <p:cNvSpPr/>
          <p:nvPr/>
        </p:nvSpPr>
        <p:spPr>
          <a:xfrm>
            <a:off x="359924" y="2411340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13" name="Rectangle : coins arrondis 12">
            <a:extLst>
              <a:ext uri="{FF2B5EF4-FFF2-40B4-BE49-F238E27FC236}">
                <a16:creationId xmlns:a16="http://schemas.microsoft.com/office/drawing/2014/main" id="{2A213EB0-8501-BDE9-25F3-4DC83F50B394}"/>
              </a:ext>
            </a:extLst>
          </p:cNvPr>
          <p:cNvSpPr/>
          <p:nvPr/>
        </p:nvSpPr>
        <p:spPr>
          <a:xfrm>
            <a:off x="6715769" y="2435388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Subscriber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7E2BEF95-92E4-FB7E-F569-5263A54A6AA9}"/>
              </a:ext>
            </a:extLst>
          </p:cNvPr>
          <p:cNvSpPr/>
          <p:nvPr/>
        </p:nvSpPr>
        <p:spPr>
          <a:xfrm>
            <a:off x="3191217" y="2055443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7C92F5E0-9A3F-97D7-BF14-F3A742C2B820}"/>
              </a:ext>
            </a:extLst>
          </p:cNvPr>
          <p:cNvSpPr/>
          <p:nvPr/>
        </p:nvSpPr>
        <p:spPr>
          <a:xfrm>
            <a:off x="5586906" y="2940544"/>
            <a:ext cx="963550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018FAB50-C29E-1681-3699-51041C8D5F10}"/>
              </a:ext>
            </a:extLst>
          </p:cNvPr>
          <p:cNvSpPr/>
          <p:nvPr/>
        </p:nvSpPr>
        <p:spPr>
          <a:xfrm>
            <a:off x="3149817" y="2017864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0C58ABB-7F1F-8E51-DA3B-3ECF0DA47247}"/>
              </a:ext>
            </a:extLst>
          </p:cNvPr>
          <p:cNvSpPr txBox="1"/>
          <p:nvPr/>
        </p:nvSpPr>
        <p:spPr>
          <a:xfrm>
            <a:off x="3313573" y="1392682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  <p:sp>
        <p:nvSpPr>
          <p:cNvPr id="4" name="Flèche : droite 3">
            <a:extLst>
              <a:ext uri="{FF2B5EF4-FFF2-40B4-BE49-F238E27FC236}">
                <a16:creationId xmlns:a16="http://schemas.microsoft.com/office/drawing/2014/main" id="{8990A307-F95F-33F1-F926-7DBEEA703777}"/>
              </a:ext>
            </a:extLst>
          </p:cNvPr>
          <p:cNvSpPr/>
          <p:nvPr/>
        </p:nvSpPr>
        <p:spPr>
          <a:xfrm>
            <a:off x="2051249" y="2916495"/>
            <a:ext cx="963550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" name="Ellipse 4">
            <a:extLst>
              <a:ext uri="{FF2B5EF4-FFF2-40B4-BE49-F238E27FC236}">
                <a16:creationId xmlns:a16="http://schemas.microsoft.com/office/drawing/2014/main" id="{A035551A-76E7-768E-D0D0-0CDA2AC6C257}"/>
              </a:ext>
            </a:extLst>
          </p:cNvPr>
          <p:cNvSpPr/>
          <p:nvPr/>
        </p:nvSpPr>
        <p:spPr>
          <a:xfrm>
            <a:off x="9466588" y="2055443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Data Visualization Server</a:t>
            </a:r>
          </a:p>
        </p:txBody>
      </p:sp>
      <p:sp>
        <p:nvSpPr>
          <p:cNvPr id="6" name="Ellipse 5">
            <a:extLst>
              <a:ext uri="{FF2B5EF4-FFF2-40B4-BE49-F238E27FC236}">
                <a16:creationId xmlns:a16="http://schemas.microsoft.com/office/drawing/2014/main" id="{BDCD44D9-CE28-F6D4-AE97-874021990B98}"/>
              </a:ext>
            </a:extLst>
          </p:cNvPr>
          <p:cNvSpPr/>
          <p:nvPr/>
        </p:nvSpPr>
        <p:spPr>
          <a:xfrm>
            <a:off x="9425188" y="2017864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45E9515-A95D-6B95-DEF6-0EDC2083C3C3}"/>
              </a:ext>
            </a:extLst>
          </p:cNvPr>
          <p:cNvSpPr txBox="1"/>
          <p:nvPr/>
        </p:nvSpPr>
        <p:spPr>
          <a:xfrm>
            <a:off x="9588944" y="1392682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  <p:sp>
        <p:nvSpPr>
          <p:cNvPr id="10" name="Flèche : droite 9">
            <a:extLst>
              <a:ext uri="{FF2B5EF4-FFF2-40B4-BE49-F238E27FC236}">
                <a16:creationId xmlns:a16="http://schemas.microsoft.com/office/drawing/2014/main" id="{DE5BBF78-C49C-10AC-28CE-8FDB2D545522}"/>
              </a:ext>
            </a:extLst>
          </p:cNvPr>
          <p:cNvSpPr/>
          <p:nvPr/>
        </p:nvSpPr>
        <p:spPr>
          <a:xfrm>
            <a:off x="8366857" y="2940544"/>
            <a:ext cx="963550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1080000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aphicFrame>
        <p:nvGraphicFramePr>
          <p:cNvPr id="12" name="Tableau 11">
            <a:extLst>
              <a:ext uri="{FF2B5EF4-FFF2-40B4-BE49-F238E27FC236}">
                <a16:creationId xmlns:a16="http://schemas.microsoft.com/office/drawing/2014/main" id="{654784FA-A6FD-91B2-78D0-E38D127CA4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61645297"/>
              </p:ext>
            </p:extLst>
          </p:nvPr>
        </p:nvGraphicFramePr>
        <p:xfrm>
          <a:off x="243945" y="4392159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28D30964-B219-D3F2-97D9-A0C4A56EB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2114396"/>
              </p:ext>
            </p:extLst>
          </p:nvPr>
        </p:nvGraphicFramePr>
        <p:xfrm>
          <a:off x="3378821" y="4392159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9" name="Tableau 18">
            <a:extLst>
              <a:ext uri="{FF2B5EF4-FFF2-40B4-BE49-F238E27FC236}">
                <a16:creationId xmlns:a16="http://schemas.microsoft.com/office/drawing/2014/main" id="{5863EA29-81B2-6D03-DCF6-A06B86EF7C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2830245"/>
              </p:ext>
            </p:extLst>
          </p:nvPr>
        </p:nvGraphicFramePr>
        <p:xfrm>
          <a:off x="6590270" y="4392159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50112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E84457-F3F4-0378-0864-AD7D2D22E5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2748515-9A03-82A0-4FFA-986B51EB2CE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09CC3AD9-FC12-5A7F-92F2-516F770FC5FA}"/>
              </a:ext>
            </a:extLst>
          </p:cNvPr>
          <p:cNvSpPr txBox="1"/>
          <p:nvPr/>
        </p:nvSpPr>
        <p:spPr>
          <a:xfrm>
            <a:off x="359924" y="1532564"/>
            <a:ext cx="2539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Security Mitigation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5B7B58A3-C47C-E66C-DAFF-0D811A5D2D6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9C7F514F-3ADE-E0B5-29F1-1B5E74ADE0BC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11" name="Rectangle : coins arrondis 10">
            <a:extLst>
              <a:ext uri="{FF2B5EF4-FFF2-40B4-BE49-F238E27FC236}">
                <a16:creationId xmlns:a16="http://schemas.microsoft.com/office/drawing/2014/main" id="{266614A2-F780-DFF4-2ADD-15B4264FE179}"/>
              </a:ext>
            </a:extLst>
          </p:cNvPr>
          <p:cNvSpPr/>
          <p:nvPr/>
        </p:nvSpPr>
        <p:spPr>
          <a:xfrm>
            <a:off x="3473532" y="2350198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14" name="Ellipse 13">
            <a:extLst>
              <a:ext uri="{FF2B5EF4-FFF2-40B4-BE49-F238E27FC236}">
                <a16:creationId xmlns:a16="http://schemas.microsoft.com/office/drawing/2014/main" id="{CFD80E75-D871-CA0E-23E4-2BAF2D155A79}"/>
              </a:ext>
            </a:extLst>
          </p:cNvPr>
          <p:cNvSpPr/>
          <p:nvPr/>
        </p:nvSpPr>
        <p:spPr>
          <a:xfrm>
            <a:off x="6774929" y="1970253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DCEFF9F0-31E8-8060-96B2-480B141220DE}"/>
              </a:ext>
            </a:extLst>
          </p:cNvPr>
          <p:cNvSpPr/>
          <p:nvPr/>
        </p:nvSpPr>
        <p:spPr>
          <a:xfrm>
            <a:off x="5156458" y="2855354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Ellipse 7">
            <a:extLst>
              <a:ext uri="{FF2B5EF4-FFF2-40B4-BE49-F238E27FC236}">
                <a16:creationId xmlns:a16="http://schemas.microsoft.com/office/drawing/2014/main" id="{B08773DF-307E-88EB-5684-262C624BBE62}"/>
              </a:ext>
            </a:extLst>
          </p:cNvPr>
          <p:cNvSpPr/>
          <p:nvPr/>
        </p:nvSpPr>
        <p:spPr>
          <a:xfrm>
            <a:off x="6733529" y="1932674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DEF4FC92-A5D7-4609-7E60-4F379581374F}"/>
              </a:ext>
            </a:extLst>
          </p:cNvPr>
          <p:cNvSpPr txBox="1"/>
          <p:nvPr/>
        </p:nvSpPr>
        <p:spPr>
          <a:xfrm>
            <a:off x="6897285" y="1307492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</p:spTree>
    <p:extLst>
      <p:ext uri="{BB962C8B-B14F-4D97-AF65-F5344CB8AC3E}">
        <p14:creationId xmlns:p14="http://schemas.microsoft.com/office/powerpoint/2010/main" val="69079976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EF5183-90E3-6665-D8EE-5BA0B21AAF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760492D4-D349-4839-D363-24DE0E075D41}"/>
              </a:ext>
            </a:extLst>
          </p:cNvPr>
          <p:cNvSpPr/>
          <p:nvPr/>
        </p:nvSpPr>
        <p:spPr>
          <a:xfrm>
            <a:off x="3315924" y="2145709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C472AA23-604D-6DB4-1D8F-4E0C50A4C83F}"/>
              </a:ext>
            </a:extLst>
          </p:cNvPr>
          <p:cNvSpPr/>
          <p:nvPr/>
        </p:nvSpPr>
        <p:spPr>
          <a:xfrm>
            <a:off x="6617321" y="1765764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69" name="Flèche : droite 68">
            <a:extLst>
              <a:ext uri="{FF2B5EF4-FFF2-40B4-BE49-F238E27FC236}">
                <a16:creationId xmlns:a16="http://schemas.microsoft.com/office/drawing/2014/main" id="{E3163769-4407-51A1-D1AC-C42473433019}"/>
              </a:ext>
            </a:extLst>
          </p:cNvPr>
          <p:cNvSpPr/>
          <p:nvPr/>
        </p:nvSpPr>
        <p:spPr>
          <a:xfrm>
            <a:off x="4998850" y="2650865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885D0C5-E479-F7CD-DF0E-1B2A86766840}"/>
              </a:ext>
            </a:extLst>
          </p:cNvPr>
          <p:cNvSpPr/>
          <p:nvPr/>
        </p:nvSpPr>
        <p:spPr>
          <a:xfrm>
            <a:off x="6575921" y="1728185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D7F9AC27-1536-96F2-A853-19EDA2B52F44}"/>
              </a:ext>
            </a:extLst>
          </p:cNvPr>
          <p:cNvSpPr txBox="1"/>
          <p:nvPr/>
        </p:nvSpPr>
        <p:spPr>
          <a:xfrm>
            <a:off x="6739677" y="1103003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370AA189-88BA-FFF6-EEBF-7F5649AE2E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0CE3F432-BD05-E22A-8B6D-9BB8B3F22C5A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E934AF57-B0A8-6AFE-7F7B-E4D08B4AF8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2691238"/>
              </p:ext>
            </p:extLst>
          </p:nvPr>
        </p:nvGraphicFramePr>
        <p:xfrm>
          <a:off x="2156653" y="2094197"/>
          <a:ext cx="1331615" cy="30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PLAIN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</a:tbl>
          </a:graphicData>
        </a:graphic>
      </p:graphicFrame>
      <p:graphicFrame>
        <p:nvGraphicFramePr>
          <p:cNvPr id="28" name="Diagramme 27">
            <a:extLst>
              <a:ext uri="{FF2B5EF4-FFF2-40B4-BE49-F238E27FC236}">
                <a16:creationId xmlns:a16="http://schemas.microsoft.com/office/drawing/2014/main" id="{EF23E893-47D5-E6D6-5C03-07DC05B7880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8354685"/>
              </p:ext>
            </p:extLst>
          </p:nvPr>
        </p:nvGraphicFramePr>
        <p:xfrm>
          <a:off x="1421229" y="4890541"/>
          <a:ext cx="3577621" cy="903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0C843121-FEE5-FD6D-EE24-FCA14B7E3B10}"/>
              </a:ext>
            </a:extLst>
          </p:cNvPr>
          <p:cNvSpPr/>
          <p:nvPr/>
        </p:nvSpPr>
        <p:spPr>
          <a:xfrm>
            <a:off x="686606" y="5216418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7233C76D-38D5-5A91-DA11-81EA0B264FF1}"/>
              </a:ext>
            </a:extLst>
          </p:cNvPr>
          <p:cNvSpPr/>
          <p:nvPr/>
        </p:nvSpPr>
        <p:spPr>
          <a:xfrm>
            <a:off x="1466189" y="2031897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6EB1D73C-6D0C-0BE1-0F7A-D903174D96F5}"/>
              </a:ext>
            </a:extLst>
          </p:cNvPr>
          <p:cNvSpPr/>
          <p:nvPr/>
        </p:nvSpPr>
        <p:spPr>
          <a:xfrm>
            <a:off x="5795058" y="3067321"/>
            <a:ext cx="601884" cy="3287210"/>
          </a:xfrm>
          <a:custGeom>
            <a:avLst/>
            <a:gdLst>
              <a:gd name="connsiteX0" fmla="*/ 0 w 601884"/>
              <a:gd name="connsiteY0" fmla="*/ 0 h 3287210"/>
              <a:gd name="connsiteX1" fmla="*/ 0 w 601884"/>
              <a:gd name="connsiteY1" fmla="*/ 636608 h 3287210"/>
              <a:gd name="connsiteX2" fmla="*/ 601884 w 601884"/>
              <a:gd name="connsiteY2" fmla="*/ 1921398 h 3287210"/>
              <a:gd name="connsiteX3" fmla="*/ 601884 w 601884"/>
              <a:gd name="connsiteY3" fmla="*/ 3287210 h 328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884" h="3287210">
                <a:moveTo>
                  <a:pt x="0" y="0"/>
                </a:moveTo>
                <a:lnTo>
                  <a:pt x="0" y="636608"/>
                </a:lnTo>
                <a:lnTo>
                  <a:pt x="601884" y="1921398"/>
                </a:lnTo>
                <a:lnTo>
                  <a:pt x="601884" y="3287210"/>
                </a:ln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C15C7632-3363-AD7F-2284-5E1C69100E76}"/>
              </a:ext>
            </a:extLst>
          </p:cNvPr>
          <p:cNvCxnSpPr>
            <a:cxnSpLocks/>
            <a:stCxn id="28" idx="3"/>
            <a:endCxn id="64" idx="1"/>
          </p:cNvCxnSpPr>
          <p:nvPr/>
        </p:nvCxnSpPr>
        <p:spPr>
          <a:xfrm flipV="1">
            <a:off x="4998850" y="4415483"/>
            <a:ext cx="2064922" cy="926757"/>
          </a:xfrm>
          <a:prstGeom prst="bentConnector3">
            <a:avLst>
              <a:gd name="adj1" fmla="val 50000"/>
            </a:avLst>
          </a:prstGeom>
          <a:ln w="104775">
            <a:solidFill>
              <a:schemeClr val="accent6">
                <a:lumMod val="40000"/>
                <a:lumOff val="60000"/>
                <a:alpha val="90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F549C963-FF8D-5B88-9978-9E61FB561CC7}"/>
              </a:ext>
            </a:extLst>
          </p:cNvPr>
          <p:cNvGrpSpPr/>
          <p:nvPr/>
        </p:nvGrpSpPr>
        <p:grpSpPr>
          <a:xfrm>
            <a:off x="7038024" y="4189633"/>
            <a:ext cx="3494339" cy="926927"/>
            <a:chOff x="7038024" y="4189633"/>
            <a:chExt cx="3324463" cy="926927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BE353D92-12B4-1D66-1C18-3059CD42D9F3}"/>
                </a:ext>
              </a:extLst>
            </p:cNvPr>
            <p:cNvGrpSpPr/>
            <p:nvPr/>
          </p:nvGrpSpPr>
          <p:grpSpPr>
            <a:xfrm>
              <a:off x="7050272" y="4189633"/>
              <a:ext cx="3312215" cy="451699"/>
              <a:chOff x="0" y="225849"/>
              <a:chExt cx="3577621" cy="451699"/>
            </a:xfrm>
          </p:grpSpPr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537E7A75-9C74-4EDC-FD6F-3C6EE740923F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Rectangle : coins arrondis 4">
                <a:extLst>
                  <a:ext uri="{FF2B5EF4-FFF2-40B4-BE49-F238E27FC236}">
                    <a16:creationId xmlns:a16="http://schemas.microsoft.com/office/drawing/2014/main" id="{2838B9A3-832D-0418-98D8-6C91A5184F2A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Mess = Enc [</a:t>
                </a:r>
                <a:r>
                  <a:rPr lang="en-GB" sz="2400" dirty="0">
                    <a:latin typeface="Agency FB" panose="020B0503020202020204" pitchFamily="34" charset="0"/>
                  </a:rPr>
                  <a:t>P</a:t>
                </a:r>
                <a:r>
                  <a:rPr lang="en-GB" sz="2400" kern="1200" dirty="0">
                    <a:latin typeface="Agency FB" panose="020B0503020202020204" pitchFamily="34" charset="0"/>
                  </a:rPr>
                  <a:t>ayload, Key Plain]</a:t>
                </a:r>
              </a:p>
            </p:txBody>
          </p:sp>
        </p:grp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387E69D6-9EA0-1104-87ED-582AF20E3C4E}"/>
                </a:ext>
              </a:extLst>
            </p:cNvPr>
            <p:cNvSpPr/>
            <p:nvPr/>
          </p:nvSpPr>
          <p:spPr>
            <a:xfrm>
              <a:off x="7038024" y="4664861"/>
              <a:ext cx="3312215" cy="451699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GB" sz="2400" dirty="0">
                  <a:latin typeface="Agency FB" panose="020B0503020202020204" pitchFamily="34" charset="0"/>
                </a:rPr>
                <a:t>Sign = Hashed [Mess, Key Plain]</a:t>
              </a:r>
            </a:p>
          </p:txBody>
        </p:sp>
      </p:grpSp>
      <p:graphicFrame>
        <p:nvGraphicFramePr>
          <p:cNvPr id="115" name="Tableau 114">
            <a:extLst>
              <a:ext uri="{FF2B5EF4-FFF2-40B4-BE49-F238E27FC236}">
                <a16:creationId xmlns:a16="http://schemas.microsoft.com/office/drawing/2014/main" id="{DBE04823-127B-3868-4123-BB5ADD69D0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18455790"/>
              </p:ext>
            </p:extLst>
          </p:nvPr>
        </p:nvGraphicFramePr>
        <p:xfrm>
          <a:off x="8564040" y="1807063"/>
          <a:ext cx="1331615" cy="6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PLAIN,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LOG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</a:tbl>
          </a:graphicData>
        </a:graphic>
      </p:graphicFrame>
      <p:sp>
        <p:nvSpPr>
          <p:cNvPr id="116" name="Rectangle 115">
            <a:extLst>
              <a:ext uri="{FF2B5EF4-FFF2-40B4-BE49-F238E27FC236}">
                <a16:creationId xmlns:a16="http://schemas.microsoft.com/office/drawing/2014/main" id="{2898CAB0-0BA4-CA96-B502-E10B8DFC46F2}"/>
              </a:ext>
            </a:extLst>
          </p:cNvPr>
          <p:cNvSpPr/>
          <p:nvPr/>
        </p:nvSpPr>
        <p:spPr>
          <a:xfrm>
            <a:off x="9798808" y="2006939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OS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3A22A073-B6CC-1C29-21D0-90F2F8FD7654}"/>
              </a:ext>
            </a:extLst>
          </p:cNvPr>
          <p:cNvGrpSpPr/>
          <p:nvPr/>
        </p:nvGrpSpPr>
        <p:grpSpPr>
          <a:xfrm>
            <a:off x="9225023" y="2465408"/>
            <a:ext cx="1588275" cy="1643605"/>
            <a:chOff x="9225023" y="2465408"/>
            <a:chExt cx="1588275" cy="1643605"/>
          </a:xfrm>
        </p:grpSpPr>
        <p:sp>
          <p:nvSpPr>
            <p:cNvPr id="117" name="Forme libre : forme 116">
              <a:extLst>
                <a:ext uri="{FF2B5EF4-FFF2-40B4-BE49-F238E27FC236}">
                  <a16:creationId xmlns:a16="http://schemas.microsoft.com/office/drawing/2014/main" id="{54E316A8-B4A4-4EE2-7392-558DFCBEEC7C}"/>
                </a:ext>
              </a:extLst>
            </p:cNvPr>
            <p:cNvSpPr/>
            <p:nvPr/>
          </p:nvSpPr>
          <p:spPr>
            <a:xfrm>
              <a:off x="9225023" y="2465408"/>
              <a:ext cx="333679" cy="1643605"/>
            </a:xfrm>
            <a:custGeom>
              <a:avLst/>
              <a:gdLst>
                <a:gd name="connsiteX0" fmla="*/ 0 w 333679"/>
                <a:gd name="connsiteY0" fmla="*/ 1643605 h 1643605"/>
                <a:gd name="connsiteX1" fmla="*/ 162045 w 333679"/>
                <a:gd name="connsiteY1" fmla="*/ 1099595 h 1643605"/>
                <a:gd name="connsiteX2" fmla="*/ 324091 w 333679"/>
                <a:gd name="connsiteY2" fmla="*/ 300941 h 1643605"/>
                <a:gd name="connsiteX3" fmla="*/ 300942 w 333679"/>
                <a:gd name="connsiteY3" fmla="*/ 0 h 164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679" h="1643605">
                  <a:moveTo>
                    <a:pt x="0" y="1643605"/>
                  </a:moveTo>
                  <a:cubicBezTo>
                    <a:pt x="54015" y="1483488"/>
                    <a:pt x="108030" y="1323372"/>
                    <a:pt x="162045" y="1099595"/>
                  </a:cubicBezTo>
                  <a:cubicBezTo>
                    <a:pt x="216060" y="875818"/>
                    <a:pt x="300942" y="484207"/>
                    <a:pt x="324091" y="300941"/>
                  </a:cubicBezTo>
                  <a:cubicBezTo>
                    <a:pt x="347240" y="117675"/>
                    <a:pt x="324091" y="58837"/>
                    <a:pt x="300942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59A138FC-3B36-A835-3155-50B60B06D8AA}"/>
                </a:ext>
              </a:extLst>
            </p:cNvPr>
            <p:cNvSpPr txBox="1"/>
            <p:nvPr/>
          </p:nvSpPr>
          <p:spPr>
            <a:xfrm>
              <a:off x="9488896" y="3169622"/>
              <a:ext cx="132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gency FB" panose="020B0503020202020204" pitchFamily="34" charset="0"/>
                </a:rPr>
                <a:t>Saved in log file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284D287A-930C-AB09-5E7B-7C13F05DDD3C}"/>
              </a:ext>
            </a:extLst>
          </p:cNvPr>
          <p:cNvGrpSpPr/>
          <p:nvPr/>
        </p:nvGrpSpPr>
        <p:grpSpPr>
          <a:xfrm>
            <a:off x="7110922" y="5216418"/>
            <a:ext cx="3577621" cy="1029220"/>
            <a:chOff x="7110922" y="5216418"/>
            <a:chExt cx="3577621" cy="1029220"/>
          </a:xfrm>
        </p:grpSpPr>
        <p:sp>
          <p:nvSpPr>
            <p:cNvPr id="120" name="Flèche : bas 119">
              <a:extLst>
                <a:ext uri="{FF2B5EF4-FFF2-40B4-BE49-F238E27FC236}">
                  <a16:creationId xmlns:a16="http://schemas.microsoft.com/office/drawing/2014/main" id="{BA97AC0C-58F3-B649-0D03-E508F312DB93}"/>
                </a:ext>
              </a:extLst>
            </p:cNvPr>
            <p:cNvSpPr/>
            <p:nvPr/>
          </p:nvSpPr>
          <p:spPr>
            <a:xfrm>
              <a:off x="8709957" y="5216418"/>
              <a:ext cx="418610" cy="51726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87017C91-154A-B64E-950A-E208359A35A1}"/>
                </a:ext>
              </a:extLst>
            </p:cNvPr>
            <p:cNvGrpSpPr/>
            <p:nvPr/>
          </p:nvGrpSpPr>
          <p:grpSpPr>
            <a:xfrm>
              <a:off x="7110922" y="5793939"/>
              <a:ext cx="3577621" cy="451699"/>
              <a:chOff x="0" y="225849"/>
              <a:chExt cx="3577621" cy="451699"/>
            </a:xfrm>
          </p:grpSpPr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3EEC5B67-CF46-E34E-D627-C6D645EA7415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3" name="Rectangle : coins arrondis 4">
                <a:extLst>
                  <a:ext uri="{FF2B5EF4-FFF2-40B4-BE49-F238E27FC236}">
                    <a16:creationId xmlns:a16="http://schemas.microsoft.com/office/drawing/2014/main" id="{315AC541-381B-FE84-FAC1-BAA377664D98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Subscriber ESP32</a:t>
                </a:r>
              </a:p>
            </p:txBody>
          </p:sp>
        </p:grp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B4BC118A-15EA-3687-0275-311C8C8CB618}"/>
              </a:ext>
            </a:extLst>
          </p:cNvPr>
          <p:cNvSpPr txBox="1"/>
          <p:nvPr/>
        </p:nvSpPr>
        <p:spPr>
          <a:xfrm>
            <a:off x="4249970" y="130741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gency FB" panose="020B0503020202020204" pitchFamily="34" charset="0"/>
              </a:rPr>
              <a:t>Rate Limit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78FDCB6D-F92A-3813-DE8F-67A629F30883}"/>
              </a:ext>
            </a:extLst>
          </p:cNvPr>
          <p:cNvSpPr/>
          <p:nvPr/>
        </p:nvSpPr>
        <p:spPr>
          <a:xfrm>
            <a:off x="4748645" y="1662545"/>
            <a:ext cx="73031" cy="353291"/>
          </a:xfrm>
          <a:custGeom>
            <a:avLst/>
            <a:gdLst>
              <a:gd name="connsiteX0" fmla="*/ 20782 w 73031"/>
              <a:gd name="connsiteY0" fmla="*/ 0 h 353291"/>
              <a:gd name="connsiteX1" fmla="*/ 72737 w 73031"/>
              <a:gd name="connsiteY1" fmla="*/ 135082 h 353291"/>
              <a:gd name="connsiteX2" fmla="*/ 0 w 73031"/>
              <a:gd name="connsiteY2" fmla="*/ 353291 h 35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31" h="353291">
                <a:moveTo>
                  <a:pt x="20782" y="0"/>
                </a:moveTo>
                <a:cubicBezTo>
                  <a:pt x="48491" y="38100"/>
                  <a:pt x="76201" y="76200"/>
                  <a:pt x="72737" y="135082"/>
                </a:cubicBezTo>
                <a:cubicBezTo>
                  <a:pt x="69273" y="193964"/>
                  <a:pt x="34636" y="273627"/>
                  <a:pt x="0" y="353291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774F6C5-FBFA-1147-F877-CBC83AB3E460}"/>
              </a:ext>
            </a:extLst>
          </p:cNvPr>
          <p:cNvSpPr/>
          <p:nvPr/>
        </p:nvSpPr>
        <p:spPr>
          <a:xfrm>
            <a:off x="1476580" y="2022059"/>
            <a:ext cx="856527" cy="250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B378CF49-92AC-5951-D45C-D8AFBC359CBB}"/>
              </a:ext>
            </a:extLst>
          </p:cNvPr>
          <p:cNvGrpSpPr/>
          <p:nvPr/>
        </p:nvGrpSpPr>
        <p:grpSpPr>
          <a:xfrm>
            <a:off x="1418586" y="4023997"/>
            <a:ext cx="3593138" cy="465531"/>
            <a:chOff x="631811" y="1086238"/>
            <a:chExt cx="3593138" cy="465531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038C6A00-A78C-EBB1-1AD8-59488BA1D793}"/>
                </a:ext>
              </a:extLst>
            </p:cNvPr>
            <p:cNvSpPr/>
            <p:nvPr/>
          </p:nvSpPr>
          <p:spPr>
            <a:xfrm>
              <a:off x="631811" y="1086238"/>
              <a:ext cx="3580264" cy="46553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 : coins arrondis 4">
              <a:extLst>
                <a:ext uri="{FF2B5EF4-FFF2-40B4-BE49-F238E27FC236}">
                  <a16:creationId xmlns:a16="http://schemas.microsoft.com/office/drawing/2014/main" id="{D5F537D9-DB0D-77D8-917A-18ABB436056E}"/>
                </a:ext>
              </a:extLst>
            </p:cNvPr>
            <p:cNvSpPr txBox="1"/>
            <p:nvPr/>
          </p:nvSpPr>
          <p:spPr>
            <a:xfrm>
              <a:off x="645446" y="1099873"/>
              <a:ext cx="3579503" cy="43826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>
                  <a:latin typeface="Agency FB" panose="020B0503020202020204" pitchFamily="34" charset="0"/>
                </a:rPr>
                <a:t>Key Plain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0950A9A4-BD4D-65C5-F275-73399AEA3CDE}"/>
              </a:ext>
            </a:extLst>
          </p:cNvPr>
          <p:cNvSpPr/>
          <p:nvPr/>
        </p:nvSpPr>
        <p:spPr>
          <a:xfrm>
            <a:off x="663345" y="4165662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59A3BBBC-E628-5B9B-5935-BE14F981778D}"/>
              </a:ext>
            </a:extLst>
          </p:cNvPr>
          <p:cNvGrpSpPr/>
          <p:nvPr/>
        </p:nvGrpSpPr>
        <p:grpSpPr>
          <a:xfrm>
            <a:off x="3013329" y="4577409"/>
            <a:ext cx="339336" cy="488458"/>
            <a:chOff x="3593575" y="893043"/>
            <a:chExt cx="302595" cy="302595"/>
          </a:xfrm>
        </p:grpSpPr>
        <p:sp>
          <p:nvSpPr>
            <p:cNvPr id="20" name="Flèche : bas 19">
              <a:extLst>
                <a:ext uri="{FF2B5EF4-FFF2-40B4-BE49-F238E27FC236}">
                  <a16:creationId xmlns:a16="http://schemas.microsoft.com/office/drawing/2014/main" id="{F565405C-9D26-981A-38D5-C08CDC09C3BF}"/>
                </a:ext>
              </a:extLst>
            </p:cNvPr>
            <p:cNvSpPr/>
            <p:nvPr/>
          </p:nvSpPr>
          <p:spPr>
            <a:xfrm>
              <a:off x="3593575" y="893043"/>
              <a:ext cx="302595" cy="302595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Flèche : bas 4">
              <a:extLst>
                <a:ext uri="{FF2B5EF4-FFF2-40B4-BE49-F238E27FC236}">
                  <a16:creationId xmlns:a16="http://schemas.microsoft.com/office/drawing/2014/main" id="{E1805A3D-7582-95E9-7F2B-5F7C9899A21A}"/>
                </a:ext>
              </a:extLst>
            </p:cNvPr>
            <p:cNvSpPr txBox="1"/>
            <p:nvPr/>
          </p:nvSpPr>
          <p:spPr>
            <a:xfrm>
              <a:off x="3661659" y="893043"/>
              <a:ext cx="166427" cy="2277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400" kern="1200">
                <a:latin typeface="Agency FB" panose="020B0503020202020204" pitchFamily="34" charset="0"/>
              </a:endParaRPr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38F45221-5D4D-C396-9FEE-F90C7A75D5D2}"/>
              </a:ext>
            </a:extLst>
          </p:cNvPr>
          <p:cNvSpPr txBox="1"/>
          <p:nvPr/>
        </p:nvSpPr>
        <p:spPr>
          <a:xfrm>
            <a:off x="359924" y="1532564"/>
            <a:ext cx="2539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Security Mitigation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4985993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116" grpId="0" animBg="1"/>
      <p:bldP spid="9" grpId="0"/>
      <p:bldP spid="13" grpId="0" animBg="1"/>
      <p:bldP spid="8" grpId="0" animBg="1"/>
      <p:bldP spid="17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F4810A-4A4E-2329-3A6A-3A36818BBE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1F4A60E-10CC-57EF-7F00-E0BBD705856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1660C80D-65BB-6A10-FEF1-CA87B4D4C9E7}"/>
              </a:ext>
            </a:extLst>
          </p:cNvPr>
          <p:cNvSpPr txBox="1"/>
          <p:nvPr/>
        </p:nvSpPr>
        <p:spPr>
          <a:xfrm>
            <a:off x="359924" y="1532564"/>
            <a:ext cx="29402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STRIDE Thread Model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454547F0-7E09-0FBB-A0E3-7EC8A91A876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pSp>
        <p:nvGrpSpPr>
          <p:cNvPr id="16" name="Groupe 15">
            <a:extLst>
              <a:ext uri="{FF2B5EF4-FFF2-40B4-BE49-F238E27FC236}">
                <a16:creationId xmlns:a16="http://schemas.microsoft.com/office/drawing/2014/main" id="{9FEDDED9-149D-8608-E051-B9CBF3EBE7C4}"/>
              </a:ext>
            </a:extLst>
          </p:cNvPr>
          <p:cNvGrpSpPr/>
          <p:nvPr/>
        </p:nvGrpSpPr>
        <p:grpSpPr>
          <a:xfrm>
            <a:off x="1258927" y="1226282"/>
            <a:ext cx="9405197" cy="3104030"/>
            <a:chOff x="1254868" y="1529657"/>
            <a:chExt cx="9405197" cy="3104030"/>
          </a:xfrm>
        </p:grpSpPr>
        <p:grpSp>
          <p:nvGrpSpPr>
            <p:cNvPr id="13" name="Groupe 12">
              <a:extLst>
                <a:ext uri="{FF2B5EF4-FFF2-40B4-BE49-F238E27FC236}">
                  <a16:creationId xmlns:a16="http://schemas.microsoft.com/office/drawing/2014/main" id="{66954DB9-5FEA-7BDE-CF78-0040D2E14BD4}"/>
                </a:ext>
              </a:extLst>
            </p:cNvPr>
            <p:cNvGrpSpPr/>
            <p:nvPr/>
          </p:nvGrpSpPr>
          <p:grpSpPr>
            <a:xfrm>
              <a:off x="1254868" y="2276272"/>
              <a:ext cx="9405197" cy="2305456"/>
              <a:chOff x="1254868" y="2276272"/>
              <a:chExt cx="9405197" cy="2305456"/>
            </a:xfrm>
          </p:grpSpPr>
          <p:sp>
            <p:nvSpPr>
              <p:cNvPr id="4" name="Rectangle : coins arrondis 3">
                <a:extLst>
                  <a:ext uri="{FF2B5EF4-FFF2-40B4-BE49-F238E27FC236}">
                    <a16:creationId xmlns:a16="http://schemas.microsoft.com/office/drawing/2014/main" id="{C6330DC8-AE8F-6266-8A2C-DD0737857D94}"/>
                  </a:ext>
                </a:extLst>
              </p:cNvPr>
              <p:cNvSpPr/>
              <p:nvPr/>
            </p:nvSpPr>
            <p:spPr>
              <a:xfrm>
                <a:off x="1254868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Publisher</a:t>
                </a:r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7" name="Rectangle : coins arrondis 6">
                <a:extLst>
                  <a:ext uri="{FF2B5EF4-FFF2-40B4-BE49-F238E27FC236}">
                    <a16:creationId xmlns:a16="http://schemas.microsoft.com/office/drawing/2014/main" id="{E86BF207-8F80-CE89-5605-F975A90B8E1C}"/>
                  </a:ext>
                </a:extLst>
              </p:cNvPr>
              <p:cNvSpPr/>
              <p:nvPr/>
            </p:nvSpPr>
            <p:spPr>
              <a:xfrm>
                <a:off x="9016090" y="2704289"/>
                <a:ext cx="1643975" cy="1449422"/>
              </a:xfrm>
              <a:prstGeom prst="roundRect">
                <a:avLst>
                  <a:gd name="adj" fmla="val 7271"/>
                </a:avLst>
              </a:prstGeom>
              <a:solidFill>
                <a:schemeClr val="accent1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 err="1"/>
                  <a:t>Suscriber</a:t>
                </a:r>
                <a:endParaRPr lang="en-GB" dirty="0"/>
              </a:p>
              <a:p>
                <a:pPr algn="ctr"/>
                <a:r>
                  <a:rPr lang="en-GB" dirty="0"/>
                  <a:t>ESP32</a:t>
                </a:r>
              </a:p>
            </p:txBody>
          </p:sp>
          <p:sp>
            <p:nvSpPr>
              <p:cNvPr id="8" name="Ellipse 7">
                <a:extLst>
                  <a:ext uri="{FF2B5EF4-FFF2-40B4-BE49-F238E27FC236}">
                    <a16:creationId xmlns:a16="http://schemas.microsoft.com/office/drawing/2014/main" id="{0E9DC71D-61BA-F86E-2B65-FE48A74196CB}"/>
                  </a:ext>
                </a:extLst>
              </p:cNvPr>
              <p:cNvSpPr/>
              <p:nvPr/>
            </p:nvSpPr>
            <p:spPr>
              <a:xfrm>
                <a:off x="4742236" y="2276272"/>
                <a:ext cx="2305456" cy="2305456"/>
              </a:xfrm>
              <a:prstGeom prst="ellipse">
                <a:avLst/>
              </a:prstGeom>
              <a:solidFill>
                <a:schemeClr val="bg2">
                  <a:lumMod val="75000"/>
                </a:schemeClr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GB" dirty="0"/>
                  <a:t>MQTT Broker</a:t>
                </a:r>
              </a:p>
            </p:txBody>
          </p:sp>
          <p:sp>
            <p:nvSpPr>
              <p:cNvPr id="9" name="Flèche : droite 8">
                <a:extLst>
                  <a:ext uri="{FF2B5EF4-FFF2-40B4-BE49-F238E27FC236}">
                    <a16:creationId xmlns:a16="http://schemas.microsoft.com/office/drawing/2014/main" id="{966FAB58-99A6-FA60-666C-D7EEAEDCC450}"/>
                  </a:ext>
                </a:extLst>
              </p:cNvPr>
              <p:cNvSpPr/>
              <p:nvPr/>
            </p:nvSpPr>
            <p:spPr>
              <a:xfrm>
                <a:off x="3032595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  <p:sp>
            <p:nvSpPr>
              <p:cNvPr id="11" name="Flèche : droite 10">
                <a:extLst>
                  <a:ext uri="{FF2B5EF4-FFF2-40B4-BE49-F238E27FC236}">
                    <a16:creationId xmlns:a16="http://schemas.microsoft.com/office/drawing/2014/main" id="{58BC695B-9641-82F4-4733-52F2AD5222A3}"/>
                  </a:ext>
                </a:extLst>
              </p:cNvPr>
              <p:cNvSpPr/>
              <p:nvPr/>
            </p:nvSpPr>
            <p:spPr>
              <a:xfrm>
                <a:off x="7267054" y="3273358"/>
                <a:ext cx="1568586" cy="306422"/>
              </a:xfrm>
              <a:prstGeom prst="rightArrow">
                <a:avLst/>
              </a:prstGeom>
              <a:gradFill>
                <a:gsLst>
                  <a:gs pos="0">
                    <a:schemeClr val="accent1">
                      <a:lumMod val="75000"/>
                    </a:schemeClr>
                  </a:gs>
                  <a:gs pos="100000">
                    <a:schemeClr val="bg2">
                      <a:lumMod val="75000"/>
                    </a:schemeClr>
                  </a:gs>
                </a:gsLst>
                <a:lin ang="10800000" scaled="0"/>
              </a:gra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GB"/>
              </a:p>
            </p:txBody>
          </p:sp>
        </p:grpSp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54B30A7B-5D4D-16D9-C7EB-04FB81B88D6D}"/>
                </a:ext>
              </a:extLst>
            </p:cNvPr>
            <p:cNvSpPr/>
            <p:nvPr/>
          </p:nvSpPr>
          <p:spPr>
            <a:xfrm>
              <a:off x="4698504" y="2233939"/>
              <a:ext cx="2399748" cy="2399748"/>
            </a:xfrm>
            <a:prstGeom prst="ellipse">
              <a:avLst/>
            </a:prstGeom>
            <a:noFill/>
            <a:ln w="38100"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" name="ZoneTexte 14">
              <a:extLst>
                <a:ext uri="{FF2B5EF4-FFF2-40B4-BE49-F238E27FC236}">
                  <a16:creationId xmlns:a16="http://schemas.microsoft.com/office/drawing/2014/main" id="{2D3A1C2D-3AA5-4587-A4A6-531FCF2D031D}"/>
                </a:ext>
              </a:extLst>
            </p:cNvPr>
            <p:cNvSpPr txBox="1"/>
            <p:nvPr/>
          </p:nvSpPr>
          <p:spPr>
            <a:xfrm>
              <a:off x="4871485" y="1529657"/>
              <a:ext cx="1927131" cy="64633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Trust Boundary</a:t>
              </a:r>
              <a:b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</a:br>
              <a:r>
                <a:rPr lang="en-GB" b="1" dirty="0">
                  <a:solidFill>
                    <a:schemeClr val="accent3">
                      <a:lumMod val="75000"/>
                    </a:schemeClr>
                  </a:solidFill>
                </a:rPr>
                <a:t>Computer</a:t>
              </a:r>
            </a:p>
          </p:txBody>
        </p:sp>
      </p:grpSp>
      <p:graphicFrame>
        <p:nvGraphicFramePr>
          <p:cNvPr id="17" name="Tableau 16">
            <a:extLst>
              <a:ext uri="{FF2B5EF4-FFF2-40B4-BE49-F238E27FC236}">
                <a16:creationId xmlns:a16="http://schemas.microsoft.com/office/drawing/2014/main" id="{34F11C86-6DEA-3282-C080-CC109F63088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1611931"/>
              </p:ext>
            </p:extLst>
          </p:nvPr>
        </p:nvGraphicFramePr>
        <p:xfrm>
          <a:off x="1177262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F881795A-7D79-86E1-10A2-D030E8E113EB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14CB30F1-88D1-BA10-DB33-BED68CB0B1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7885481"/>
              </p:ext>
            </p:extLst>
          </p:nvPr>
        </p:nvGraphicFramePr>
        <p:xfrm>
          <a:off x="4995371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2" name="Tableau 21">
            <a:extLst>
              <a:ext uri="{FF2B5EF4-FFF2-40B4-BE49-F238E27FC236}">
                <a16:creationId xmlns:a16="http://schemas.microsoft.com/office/drawing/2014/main" id="{A8FE34DD-9F2B-D40A-9E63-1D28A2E209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7487294"/>
              </p:ext>
            </p:extLst>
          </p:nvPr>
        </p:nvGraphicFramePr>
        <p:xfrm>
          <a:off x="8938484" y="4699158"/>
          <a:ext cx="1807304" cy="183783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7304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 marT="46800"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5" name="ZoneTexte 4">
            <a:extLst>
              <a:ext uri="{FF2B5EF4-FFF2-40B4-BE49-F238E27FC236}">
                <a16:creationId xmlns:a16="http://schemas.microsoft.com/office/drawing/2014/main" id="{C4697F83-1EE2-6DDA-9816-61B05E30BB44}"/>
              </a:ext>
            </a:extLst>
          </p:cNvPr>
          <p:cNvSpPr txBox="1"/>
          <p:nvPr/>
        </p:nvSpPr>
        <p:spPr>
          <a:xfrm>
            <a:off x="359924" y="1877100"/>
            <a:ext cx="16450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latin typeface="Agency FB" panose="020B0503020202020204" pitchFamily="34" charset="0"/>
              </a:rPr>
              <a:t>LVL 1 DIAGRAM FLOW</a:t>
            </a:r>
          </a:p>
        </p:txBody>
      </p:sp>
    </p:spTree>
    <p:extLst>
      <p:ext uri="{BB962C8B-B14F-4D97-AF65-F5344CB8AC3E}">
        <p14:creationId xmlns:p14="http://schemas.microsoft.com/office/powerpoint/2010/main" val="305945643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214045C-686B-1747-3C95-EA645D60CE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E441DB45-61C7-66CB-9589-6D2A57D41589}"/>
              </a:ext>
            </a:extLst>
          </p:cNvPr>
          <p:cNvSpPr/>
          <p:nvPr/>
        </p:nvSpPr>
        <p:spPr>
          <a:xfrm>
            <a:off x="3315924" y="2145709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458271EB-33B4-D593-C54D-F13F41165E71}"/>
              </a:ext>
            </a:extLst>
          </p:cNvPr>
          <p:cNvSpPr/>
          <p:nvPr/>
        </p:nvSpPr>
        <p:spPr>
          <a:xfrm>
            <a:off x="6617321" y="1765764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69" name="Flèche : droite 68">
            <a:extLst>
              <a:ext uri="{FF2B5EF4-FFF2-40B4-BE49-F238E27FC236}">
                <a16:creationId xmlns:a16="http://schemas.microsoft.com/office/drawing/2014/main" id="{A3F14746-C4E7-4C95-156C-296805D126F1}"/>
              </a:ext>
            </a:extLst>
          </p:cNvPr>
          <p:cNvSpPr/>
          <p:nvPr/>
        </p:nvSpPr>
        <p:spPr>
          <a:xfrm>
            <a:off x="4998850" y="2650865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E57CDC73-543B-DC3C-7A21-B15A87A0ABF3}"/>
              </a:ext>
            </a:extLst>
          </p:cNvPr>
          <p:cNvSpPr/>
          <p:nvPr/>
        </p:nvSpPr>
        <p:spPr>
          <a:xfrm>
            <a:off x="6575921" y="1728185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18FEE6E2-6B26-F836-2482-22DF4B30A0D9}"/>
              </a:ext>
            </a:extLst>
          </p:cNvPr>
          <p:cNvSpPr txBox="1"/>
          <p:nvPr/>
        </p:nvSpPr>
        <p:spPr>
          <a:xfrm>
            <a:off x="6739677" y="1103003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  <p:grpSp>
        <p:nvGrpSpPr>
          <p:cNvPr id="124" name="Groupe 123">
            <a:extLst>
              <a:ext uri="{FF2B5EF4-FFF2-40B4-BE49-F238E27FC236}">
                <a16:creationId xmlns:a16="http://schemas.microsoft.com/office/drawing/2014/main" id="{9F2204AF-496F-E282-E533-ED256D841946}"/>
              </a:ext>
            </a:extLst>
          </p:cNvPr>
          <p:cNvGrpSpPr/>
          <p:nvPr/>
        </p:nvGrpSpPr>
        <p:grpSpPr>
          <a:xfrm>
            <a:off x="2124884" y="2661998"/>
            <a:ext cx="1143177" cy="369332"/>
            <a:chOff x="2124884" y="2661998"/>
            <a:chExt cx="1143177" cy="369332"/>
          </a:xfrm>
        </p:grpSpPr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5CD4A3C3-3B3B-2437-8A23-E7C29BCD2483}"/>
                </a:ext>
              </a:extLst>
            </p:cNvPr>
            <p:cNvSpPr txBox="1"/>
            <p:nvPr/>
          </p:nvSpPr>
          <p:spPr>
            <a:xfrm>
              <a:off x="2124884" y="2661998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Agency FB" panose="020B0503020202020204" pitchFamily="34" charset="0"/>
                </a:rPr>
                <a:t>MORSE</a:t>
              </a:r>
            </a:p>
          </p:txBody>
        </p:sp>
        <p:sp>
          <p:nvSpPr>
            <p:cNvPr id="75" name="Flèche : droite 74">
              <a:extLst>
                <a:ext uri="{FF2B5EF4-FFF2-40B4-BE49-F238E27FC236}">
                  <a16:creationId xmlns:a16="http://schemas.microsoft.com/office/drawing/2014/main" id="{EC9E3F63-66B7-F189-7B83-D309AA3B9749}"/>
                </a:ext>
              </a:extLst>
            </p:cNvPr>
            <p:cNvSpPr/>
            <p:nvPr/>
          </p:nvSpPr>
          <p:spPr>
            <a:xfrm>
              <a:off x="2793936" y="2793298"/>
              <a:ext cx="474125" cy="129574"/>
            </a:xfrm>
            <a:prstGeom prst="rightArrow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56520F30-9C67-BE98-3211-159FB570C71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96142BE-DA16-E2EC-CE23-C0CE8AE1F206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DDC5A1EB-FB4C-A0F7-6FFE-7C907AED9F0F}"/>
              </a:ext>
            </a:extLst>
          </p:cNvPr>
          <p:cNvGraphicFramePr>
            <a:graphicFrameLocks noGrp="1"/>
          </p:cNvGraphicFramePr>
          <p:nvPr/>
        </p:nvGraphicFramePr>
        <p:xfrm>
          <a:off x="2156653" y="2094197"/>
          <a:ext cx="1331615" cy="30630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PLAIN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</a:tbl>
          </a:graphicData>
        </a:graphic>
      </p:graphicFrame>
      <p:graphicFrame>
        <p:nvGraphicFramePr>
          <p:cNvPr id="28" name="Diagramme 27">
            <a:extLst>
              <a:ext uri="{FF2B5EF4-FFF2-40B4-BE49-F238E27FC236}">
                <a16:creationId xmlns:a16="http://schemas.microsoft.com/office/drawing/2014/main" id="{388C790D-283C-A31F-CC0B-9FB54FE62FBC}"/>
              </a:ext>
            </a:extLst>
          </p:cNvPr>
          <p:cNvGraphicFramePr/>
          <p:nvPr/>
        </p:nvGraphicFramePr>
        <p:xfrm>
          <a:off x="1421229" y="4890541"/>
          <a:ext cx="3577621" cy="9033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9" name="Rectangle 38">
            <a:extLst>
              <a:ext uri="{FF2B5EF4-FFF2-40B4-BE49-F238E27FC236}">
                <a16:creationId xmlns:a16="http://schemas.microsoft.com/office/drawing/2014/main" id="{DFFBDB99-AA1C-69E4-AA30-185E1B20A9FF}"/>
              </a:ext>
            </a:extLst>
          </p:cNvPr>
          <p:cNvSpPr/>
          <p:nvPr/>
        </p:nvSpPr>
        <p:spPr>
          <a:xfrm>
            <a:off x="686606" y="5216418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2935DAFE-C1E9-4B95-710E-E744FBFA831D}"/>
              </a:ext>
            </a:extLst>
          </p:cNvPr>
          <p:cNvSpPr/>
          <p:nvPr/>
        </p:nvSpPr>
        <p:spPr>
          <a:xfrm>
            <a:off x="1466189" y="2031897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5849ADB3-C74F-E37A-8660-E114657C502E}"/>
              </a:ext>
            </a:extLst>
          </p:cNvPr>
          <p:cNvSpPr/>
          <p:nvPr/>
        </p:nvSpPr>
        <p:spPr>
          <a:xfrm>
            <a:off x="5795058" y="3067321"/>
            <a:ext cx="601884" cy="3287210"/>
          </a:xfrm>
          <a:custGeom>
            <a:avLst/>
            <a:gdLst>
              <a:gd name="connsiteX0" fmla="*/ 0 w 601884"/>
              <a:gd name="connsiteY0" fmla="*/ 0 h 3287210"/>
              <a:gd name="connsiteX1" fmla="*/ 0 w 601884"/>
              <a:gd name="connsiteY1" fmla="*/ 636608 h 3287210"/>
              <a:gd name="connsiteX2" fmla="*/ 601884 w 601884"/>
              <a:gd name="connsiteY2" fmla="*/ 1921398 h 3287210"/>
              <a:gd name="connsiteX3" fmla="*/ 601884 w 601884"/>
              <a:gd name="connsiteY3" fmla="*/ 3287210 h 328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884" h="3287210">
                <a:moveTo>
                  <a:pt x="0" y="0"/>
                </a:moveTo>
                <a:lnTo>
                  <a:pt x="0" y="636608"/>
                </a:lnTo>
                <a:lnTo>
                  <a:pt x="601884" y="1921398"/>
                </a:lnTo>
                <a:lnTo>
                  <a:pt x="601884" y="3287210"/>
                </a:ln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0E6A01E1-76D1-2212-2D90-D6D3980AB4B0}"/>
              </a:ext>
            </a:extLst>
          </p:cNvPr>
          <p:cNvCxnSpPr>
            <a:cxnSpLocks/>
            <a:stCxn id="28" idx="3"/>
            <a:endCxn id="64" idx="1"/>
          </p:cNvCxnSpPr>
          <p:nvPr/>
        </p:nvCxnSpPr>
        <p:spPr>
          <a:xfrm flipV="1">
            <a:off x="4998850" y="4415483"/>
            <a:ext cx="2064922" cy="926757"/>
          </a:xfrm>
          <a:prstGeom prst="bentConnector3">
            <a:avLst>
              <a:gd name="adj1" fmla="val 50000"/>
            </a:avLst>
          </a:prstGeom>
          <a:ln w="104775">
            <a:solidFill>
              <a:schemeClr val="accent6">
                <a:lumMod val="40000"/>
                <a:lumOff val="60000"/>
                <a:alpha val="90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96CFC706-0EBA-9481-E0C3-F5E13B52D50B}"/>
              </a:ext>
            </a:extLst>
          </p:cNvPr>
          <p:cNvGrpSpPr/>
          <p:nvPr/>
        </p:nvGrpSpPr>
        <p:grpSpPr>
          <a:xfrm>
            <a:off x="7038024" y="4189633"/>
            <a:ext cx="3494339" cy="926927"/>
            <a:chOff x="7038024" y="4189633"/>
            <a:chExt cx="3324463" cy="926927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1A7A69EC-5743-F769-5B5C-BD6017CCD943}"/>
                </a:ext>
              </a:extLst>
            </p:cNvPr>
            <p:cNvGrpSpPr/>
            <p:nvPr/>
          </p:nvGrpSpPr>
          <p:grpSpPr>
            <a:xfrm>
              <a:off x="7050272" y="4189633"/>
              <a:ext cx="3312215" cy="451699"/>
              <a:chOff x="0" y="225849"/>
              <a:chExt cx="3577621" cy="451699"/>
            </a:xfrm>
          </p:grpSpPr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2409CE45-4C00-0FF6-412A-28BD2E0600FF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Rectangle : coins arrondis 4">
                <a:extLst>
                  <a:ext uri="{FF2B5EF4-FFF2-40B4-BE49-F238E27FC236}">
                    <a16:creationId xmlns:a16="http://schemas.microsoft.com/office/drawing/2014/main" id="{462D1E1F-0226-9450-DAD7-579F3BBD4024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Mess = Enc [</a:t>
                </a:r>
                <a:r>
                  <a:rPr lang="en-GB" sz="2400" dirty="0">
                    <a:latin typeface="Agency FB" panose="020B0503020202020204" pitchFamily="34" charset="0"/>
                  </a:rPr>
                  <a:t>P</a:t>
                </a:r>
                <a:r>
                  <a:rPr lang="en-GB" sz="2400" kern="1200" dirty="0">
                    <a:latin typeface="Agency FB" panose="020B0503020202020204" pitchFamily="34" charset="0"/>
                  </a:rPr>
                  <a:t>ayload, Key Plain]</a:t>
                </a:r>
              </a:p>
            </p:txBody>
          </p:sp>
        </p:grp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C31D356E-AC7A-25DE-3D6E-8B82F85D9205}"/>
                </a:ext>
              </a:extLst>
            </p:cNvPr>
            <p:cNvSpPr/>
            <p:nvPr/>
          </p:nvSpPr>
          <p:spPr>
            <a:xfrm>
              <a:off x="7038024" y="4664861"/>
              <a:ext cx="3312215" cy="451699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GB" sz="2400" dirty="0">
                  <a:latin typeface="Agency FB" panose="020B0503020202020204" pitchFamily="34" charset="0"/>
                </a:rPr>
                <a:t>Sign = Hashed [Mess, Key Plain]</a:t>
              </a:r>
            </a:p>
          </p:txBody>
        </p:sp>
      </p:grpSp>
      <p:graphicFrame>
        <p:nvGraphicFramePr>
          <p:cNvPr id="115" name="Tableau 114">
            <a:extLst>
              <a:ext uri="{FF2B5EF4-FFF2-40B4-BE49-F238E27FC236}">
                <a16:creationId xmlns:a16="http://schemas.microsoft.com/office/drawing/2014/main" id="{D2528D18-57C3-2985-9AD3-FDCD5785F382}"/>
              </a:ext>
            </a:extLst>
          </p:cNvPr>
          <p:cNvGraphicFramePr>
            <a:graphicFrameLocks noGrp="1"/>
          </p:cNvGraphicFramePr>
          <p:nvPr/>
        </p:nvGraphicFramePr>
        <p:xfrm>
          <a:off x="8564040" y="1807063"/>
          <a:ext cx="1331615" cy="6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PLAIN,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LOG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</a:tbl>
          </a:graphicData>
        </a:graphic>
      </p:graphicFrame>
      <p:sp>
        <p:nvSpPr>
          <p:cNvPr id="116" name="Rectangle 115">
            <a:extLst>
              <a:ext uri="{FF2B5EF4-FFF2-40B4-BE49-F238E27FC236}">
                <a16:creationId xmlns:a16="http://schemas.microsoft.com/office/drawing/2014/main" id="{5A4F075A-2D28-BA96-29E5-D1C78FA7580B}"/>
              </a:ext>
            </a:extLst>
          </p:cNvPr>
          <p:cNvSpPr/>
          <p:nvPr/>
        </p:nvSpPr>
        <p:spPr>
          <a:xfrm>
            <a:off x="9798808" y="2006939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OS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54C3A58F-435A-BC3A-31FC-F76FB17A5037}"/>
              </a:ext>
            </a:extLst>
          </p:cNvPr>
          <p:cNvGrpSpPr/>
          <p:nvPr/>
        </p:nvGrpSpPr>
        <p:grpSpPr>
          <a:xfrm>
            <a:off x="9225023" y="2465408"/>
            <a:ext cx="1588275" cy="1643605"/>
            <a:chOff x="9225023" y="2465408"/>
            <a:chExt cx="1588275" cy="1643605"/>
          </a:xfrm>
        </p:grpSpPr>
        <p:sp>
          <p:nvSpPr>
            <p:cNvPr id="117" name="Forme libre : forme 116">
              <a:extLst>
                <a:ext uri="{FF2B5EF4-FFF2-40B4-BE49-F238E27FC236}">
                  <a16:creationId xmlns:a16="http://schemas.microsoft.com/office/drawing/2014/main" id="{0646A366-9136-F35C-00ED-B8DD09B43725}"/>
                </a:ext>
              </a:extLst>
            </p:cNvPr>
            <p:cNvSpPr/>
            <p:nvPr/>
          </p:nvSpPr>
          <p:spPr>
            <a:xfrm>
              <a:off x="9225023" y="2465408"/>
              <a:ext cx="333679" cy="1643605"/>
            </a:xfrm>
            <a:custGeom>
              <a:avLst/>
              <a:gdLst>
                <a:gd name="connsiteX0" fmla="*/ 0 w 333679"/>
                <a:gd name="connsiteY0" fmla="*/ 1643605 h 1643605"/>
                <a:gd name="connsiteX1" fmla="*/ 162045 w 333679"/>
                <a:gd name="connsiteY1" fmla="*/ 1099595 h 1643605"/>
                <a:gd name="connsiteX2" fmla="*/ 324091 w 333679"/>
                <a:gd name="connsiteY2" fmla="*/ 300941 h 1643605"/>
                <a:gd name="connsiteX3" fmla="*/ 300942 w 333679"/>
                <a:gd name="connsiteY3" fmla="*/ 0 h 164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679" h="1643605">
                  <a:moveTo>
                    <a:pt x="0" y="1643605"/>
                  </a:moveTo>
                  <a:cubicBezTo>
                    <a:pt x="54015" y="1483488"/>
                    <a:pt x="108030" y="1323372"/>
                    <a:pt x="162045" y="1099595"/>
                  </a:cubicBezTo>
                  <a:cubicBezTo>
                    <a:pt x="216060" y="875818"/>
                    <a:pt x="300942" y="484207"/>
                    <a:pt x="324091" y="300941"/>
                  </a:cubicBezTo>
                  <a:cubicBezTo>
                    <a:pt x="347240" y="117675"/>
                    <a:pt x="324091" y="58837"/>
                    <a:pt x="300942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A6DEF0F7-2397-3677-8E0E-DE44075682D4}"/>
                </a:ext>
              </a:extLst>
            </p:cNvPr>
            <p:cNvSpPr txBox="1"/>
            <p:nvPr/>
          </p:nvSpPr>
          <p:spPr>
            <a:xfrm>
              <a:off x="9488896" y="3169622"/>
              <a:ext cx="132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gency FB" panose="020B0503020202020204" pitchFamily="34" charset="0"/>
                </a:rPr>
                <a:t>Saved in log file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D950D9FC-34C1-5FC1-7594-43CB1796259C}"/>
              </a:ext>
            </a:extLst>
          </p:cNvPr>
          <p:cNvGrpSpPr/>
          <p:nvPr/>
        </p:nvGrpSpPr>
        <p:grpSpPr>
          <a:xfrm>
            <a:off x="7110922" y="5216418"/>
            <a:ext cx="3577621" cy="1029220"/>
            <a:chOff x="7110922" y="5216418"/>
            <a:chExt cx="3577621" cy="1029220"/>
          </a:xfrm>
        </p:grpSpPr>
        <p:sp>
          <p:nvSpPr>
            <p:cNvPr id="120" name="Flèche : bas 119">
              <a:extLst>
                <a:ext uri="{FF2B5EF4-FFF2-40B4-BE49-F238E27FC236}">
                  <a16:creationId xmlns:a16="http://schemas.microsoft.com/office/drawing/2014/main" id="{639E5B63-62DC-CEFF-D871-97D1974FCA95}"/>
                </a:ext>
              </a:extLst>
            </p:cNvPr>
            <p:cNvSpPr/>
            <p:nvPr/>
          </p:nvSpPr>
          <p:spPr>
            <a:xfrm>
              <a:off x="8709957" y="5216418"/>
              <a:ext cx="418610" cy="51726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35790251-3C9A-1888-A1FC-874A26BCAEEB}"/>
                </a:ext>
              </a:extLst>
            </p:cNvPr>
            <p:cNvGrpSpPr/>
            <p:nvPr/>
          </p:nvGrpSpPr>
          <p:grpSpPr>
            <a:xfrm>
              <a:off x="7110922" y="5793939"/>
              <a:ext cx="3577621" cy="451699"/>
              <a:chOff x="0" y="225849"/>
              <a:chExt cx="3577621" cy="451699"/>
            </a:xfrm>
          </p:grpSpPr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DEE818C1-B0A6-E6AF-7814-EBFF49EAB458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3" name="Rectangle : coins arrondis 4">
                <a:extLst>
                  <a:ext uri="{FF2B5EF4-FFF2-40B4-BE49-F238E27FC236}">
                    <a16:creationId xmlns:a16="http://schemas.microsoft.com/office/drawing/2014/main" id="{6804FEE0-C177-BF21-84B3-0B903A75B3A4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Subscriber ESP32</a:t>
                </a:r>
              </a:p>
            </p:txBody>
          </p:sp>
        </p:grp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642F04FA-1FC9-3DB2-CADF-BEC48E235D43}"/>
              </a:ext>
            </a:extLst>
          </p:cNvPr>
          <p:cNvSpPr txBox="1"/>
          <p:nvPr/>
        </p:nvSpPr>
        <p:spPr>
          <a:xfrm>
            <a:off x="4249970" y="130741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gency FB" panose="020B0503020202020204" pitchFamily="34" charset="0"/>
              </a:rPr>
              <a:t>Rate Limit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234A2F4C-2ADC-400B-970A-6A4DE4C488B1}"/>
              </a:ext>
            </a:extLst>
          </p:cNvPr>
          <p:cNvSpPr/>
          <p:nvPr/>
        </p:nvSpPr>
        <p:spPr>
          <a:xfrm>
            <a:off x="4748645" y="1662545"/>
            <a:ext cx="73031" cy="353291"/>
          </a:xfrm>
          <a:custGeom>
            <a:avLst/>
            <a:gdLst>
              <a:gd name="connsiteX0" fmla="*/ 20782 w 73031"/>
              <a:gd name="connsiteY0" fmla="*/ 0 h 353291"/>
              <a:gd name="connsiteX1" fmla="*/ 72737 w 73031"/>
              <a:gd name="connsiteY1" fmla="*/ 135082 h 353291"/>
              <a:gd name="connsiteX2" fmla="*/ 0 w 73031"/>
              <a:gd name="connsiteY2" fmla="*/ 353291 h 35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31" h="353291">
                <a:moveTo>
                  <a:pt x="20782" y="0"/>
                </a:moveTo>
                <a:cubicBezTo>
                  <a:pt x="48491" y="38100"/>
                  <a:pt x="76201" y="76200"/>
                  <a:pt x="72737" y="135082"/>
                </a:cubicBezTo>
                <a:cubicBezTo>
                  <a:pt x="69273" y="193964"/>
                  <a:pt x="34636" y="273627"/>
                  <a:pt x="0" y="353291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6ACFF5C-B61A-7BD6-3A64-DE7667A4576E}"/>
              </a:ext>
            </a:extLst>
          </p:cNvPr>
          <p:cNvSpPr/>
          <p:nvPr/>
        </p:nvSpPr>
        <p:spPr>
          <a:xfrm>
            <a:off x="1476580" y="2022059"/>
            <a:ext cx="856527" cy="250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14" name="Groupe 13">
            <a:extLst>
              <a:ext uri="{FF2B5EF4-FFF2-40B4-BE49-F238E27FC236}">
                <a16:creationId xmlns:a16="http://schemas.microsoft.com/office/drawing/2014/main" id="{E44161D7-F773-7385-4B77-53B6401AA1BD}"/>
              </a:ext>
            </a:extLst>
          </p:cNvPr>
          <p:cNvGrpSpPr/>
          <p:nvPr/>
        </p:nvGrpSpPr>
        <p:grpSpPr>
          <a:xfrm>
            <a:off x="1418586" y="4023997"/>
            <a:ext cx="3593138" cy="465531"/>
            <a:chOff x="631811" y="1086238"/>
            <a:chExt cx="3593138" cy="465531"/>
          </a:xfrm>
        </p:grpSpPr>
        <p:sp>
          <p:nvSpPr>
            <p:cNvPr id="15" name="Rectangle : coins arrondis 14">
              <a:extLst>
                <a:ext uri="{FF2B5EF4-FFF2-40B4-BE49-F238E27FC236}">
                  <a16:creationId xmlns:a16="http://schemas.microsoft.com/office/drawing/2014/main" id="{1EE52587-B67D-EA71-7FF9-6DD6BDD97324}"/>
                </a:ext>
              </a:extLst>
            </p:cNvPr>
            <p:cNvSpPr/>
            <p:nvPr/>
          </p:nvSpPr>
          <p:spPr>
            <a:xfrm>
              <a:off x="631811" y="1086238"/>
              <a:ext cx="3580264" cy="465531"/>
            </a:xfrm>
            <a:prstGeom prst="roundRect">
              <a:avLst>
                <a:gd name="adj" fmla="val 10000"/>
              </a:avLst>
            </a:prstGeom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16" name="Rectangle : coins arrondis 4">
              <a:extLst>
                <a:ext uri="{FF2B5EF4-FFF2-40B4-BE49-F238E27FC236}">
                  <a16:creationId xmlns:a16="http://schemas.microsoft.com/office/drawing/2014/main" id="{8D9B15FD-A791-D546-FC9C-D7FF994DA98F}"/>
                </a:ext>
              </a:extLst>
            </p:cNvPr>
            <p:cNvSpPr txBox="1"/>
            <p:nvPr/>
          </p:nvSpPr>
          <p:spPr>
            <a:xfrm>
              <a:off x="645446" y="1099873"/>
              <a:ext cx="3579503" cy="438261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91440" tIns="91440" rIns="91440" bIns="9144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r>
                <a:rPr lang="en-GB" sz="2400" kern="1200" dirty="0">
                  <a:latin typeface="Agency FB" panose="020B0503020202020204" pitchFamily="34" charset="0"/>
                </a:rPr>
                <a:t>Key Plain</a:t>
              </a:r>
            </a:p>
          </p:txBody>
        </p:sp>
      </p:grpSp>
      <p:sp>
        <p:nvSpPr>
          <p:cNvPr id="17" name="Rectangle 16">
            <a:extLst>
              <a:ext uri="{FF2B5EF4-FFF2-40B4-BE49-F238E27FC236}">
                <a16:creationId xmlns:a16="http://schemas.microsoft.com/office/drawing/2014/main" id="{2484AD6C-A573-5871-7C99-21CF8545D84E}"/>
              </a:ext>
            </a:extLst>
          </p:cNvPr>
          <p:cNvSpPr/>
          <p:nvPr/>
        </p:nvSpPr>
        <p:spPr>
          <a:xfrm>
            <a:off x="663345" y="4165662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grpSp>
        <p:nvGrpSpPr>
          <p:cNvPr id="19" name="Groupe 18">
            <a:extLst>
              <a:ext uri="{FF2B5EF4-FFF2-40B4-BE49-F238E27FC236}">
                <a16:creationId xmlns:a16="http://schemas.microsoft.com/office/drawing/2014/main" id="{8A3EA095-1340-20DF-784B-289FFBA79AC9}"/>
              </a:ext>
            </a:extLst>
          </p:cNvPr>
          <p:cNvGrpSpPr/>
          <p:nvPr/>
        </p:nvGrpSpPr>
        <p:grpSpPr>
          <a:xfrm>
            <a:off x="3013329" y="4577409"/>
            <a:ext cx="339336" cy="488458"/>
            <a:chOff x="3593575" y="893043"/>
            <a:chExt cx="302595" cy="302595"/>
          </a:xfrm>
        </p:grpSpPr>
        <p:sp>
          <p:nvSpPr>
            <p:cNvPr id="20" name="Flèche : bas 19">
              <a:extLst>
                <a:ext uri="{FF2B5EF4-FFF2-40B4-BE49-F238E27FC236}">
                  <a16:creationId xmlns:a16="http://schemas.microsoft.com/office/drawing/2014/main" id="{DE8E0134-473D-CAB0-55CB-8F2573E475DF}"/>
                </a:ext>
              </a:extLst>
            </p:cNvPr>
            <p:cNvSpPr/>
            <p:nvPr/>
          </p:nvSpPr>
          <p:spPr>
            <a:xfrm>
              <a:off x="3593575" y="893043"/>
              <a:ext cx="302595" cy="302595"/>
            </a:xfrm>
            <a:prstGeom prst="downArrow">
              <a:avLst>
                <a:gd name="adj1" fmla="val 55000"/>
                <a:gd name="adj2" fmla="val 45000"/>
              </a:avLst>
            </a:prstGeom>
          </p:spPr>
          <p:style>
            <a:lnRef idx="2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lnRef>
            <a:fillRef idx="1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fillRef>
            <a:effectRef idx="0">
              <a:schemeClr val="accent1">
                <a:alpha val="90000"/>
                <a:tint val="40000"/>
                <a:hueOff val="0"/>
                <a:satOff val="0"/>
                <a:lumOff val="0"/>
                <a:alphaOff val="0"/>
              </a:schemeClr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/>
            <a:lstStyle/>
            <a:p>
              <a:endParaRPr lang="en-GB"/>
            </a:p>
          </p:txBody>
        </p:sp>
        <p:sp>
          <p:nvSpPr>
            <p:cNvPr id="22" name="Flèche : bas 4">
              <a:extLst>
                <a:ext uri="{FF2B5EF4-FFF2-40B4-BE49-F238E27FC236}">
                  <a16:creationId xmlns:a16="http://schemas.microsoft.com/office/drawing/2014/main" id="{6750B438-6926-A727-C81D-BAC814FFCC3F}"/>
                </a:ext>
              </a:extLst>
            </p:cNvPr>
            <p:cNvSpPr txBox="1"/>
            <p:nvPr/>
          </p:nvSpPr>
          <p:spPr>
            <a:xfrm>
              <a:off x="3661659" y="893043"/>
              <a:ext cx="166427" cy="227703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dk1">
                <a:hueOff val="0"/>
                <a:satOff val="0"/>
                <a:lumOff val="0"/>
                <a:alphaOff val="0"/>
              </a:schemeClr>
            </a:fontRef>
          </p:style>
          <p:txBody>
            <a:bodyPr spcFirstLastPara="0" vert="horz" wrap="square" lIns="30480" tIns="30480" rIns="30480" bIns="30480" numCol="1" spcCol="1270" anchor="ctr" anchorCtr="0">
              <a:noAutofit/>
            </a:bodyPr>
            <a:lstStyle/>
            <a:p>
              <a:pPr marL="0" lvl="0" indent="0" algn="ctr" defTabSz="106680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buNone/>
              </a:pPr>
              <a:endParaRPr lang="en-GB" sz="2400" kern="1200">
                <a:latin typeface="Agency FB" panose="020B0503020202020204" pitchFamily="34" charset="0"/>
              </a:endParaRPr>
            </a:p>
          </p:txBody>
        </p:sp>
      </p:grpSp>
      <p:sp>
        <p:nvSpPr>
          <p:cNvPr id="23" name="ZoneTexte 22">
            <a:extLst>
              <a:ext uri="{FF2B5EF4-FFF2-40B4-BE49-F238E27FC236}">
                <a16:creationId xmlns:a16="http://schemas.microsoft.com/office/drawing/2014/main" id="{3A2EF8D0-1DA3-F98F-B613-D56F1004AD1E}"/>
              </a:ext>
            </a:extLst>
          </p:cNvPr>
          <p:cNvSpPr txBox="1"/>
          <p:nvPr/>
        </p:nvSpPr>
        <p:spPr>
          <a:xfrm>
            <a:off x="359924" y="1532564"/>
            <a:ext cx="253947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Security Mitigation</a:t>
            </a:r>
            <a:endParaRPr lang="en-GB" sz="2400" b="1" dirty="0"/>
          </a:p>
        </p:txBody>
      </p:sp>
    </p:spTree>
    <p:extLst>
      <p:ext uri="{BB962C8B-B14F-4D97-AF65-F5344CB8AC3E}">
        <p14:creationId xmlns:p14="http://schemas.microsoft.com/office/powerpoint/2010/main" val="3261433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" grpId="0" animBg="1"/>
      <p:bldP spid="40" grpId="0" animBg="1"/>
      <p:bldP spid="116" grpId="0" animBg="1"/>
      <p:bldP spid="9" grpId="0"/>
      <p:bldP spid="13" grpId="0" animBg="1"/>
      <p:bldP spid="1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DD1211-04C5-7D27-E2A3-1A2605F553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Rectangle : coins arrondis 64">
            <a:extLst>
              <a:ext uri="{FF2B5EF4-FFF2-40B4-BE49-F238E27FC236}">
                <a16:creationId xmlns:a16="http://schemas.microsoft.com/office/drawing/2014/main" id="{BED83B6F-CBC8-383C-214C-A897764020E3}"/>
              </a:ext>
            </a:extLst>
          </p:cNvPr>
          <p:cNvSpPr/>
          <p:nvPr/>
        </p:nvSpPr>
        <p:spPr>
          <a:xfrm>
            <a:off x="3315924" y="2145709"/>
            <a:ext cx="1556307" cy="1286634"/>
          </a:xfrm>
          <a:prstGeom prst="roundRect">
            <a:avLst>
              <a:gd name="adj" fmla="val 7271"/>
            </a:avLst>
          </a:prstGeom>
          <a:solidFill>
            <a:schemeClr val="accent1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Publisher</a:t>
            </a:r>
          </a:p>
          <a:p>
            <a:pPr algn="ctr"/>
            <a:r>
              <a:rPr lang="en-GB" dirty="0"/>
              <a:t>ESP32</a:t>
            </a:r>
          </a:p>
        </p:txBody>
      </p:sp>
      <p:sp>
        <p:nvSpPr>
          <p:cNvPr id="68" name="Ellipse 67">
            <a:extLst>
              <a:ext uri="{FF2B5EF4-FFF2-40B4-BE49-F238E27FC236}">
                <a16:creationId xmlns:a16="http://schemas.microsoft.com/office/drawing/2014/main" id="{76B22881-730B-4A3D-18B6-47756313E01E}"/>
              </a:ext>
            </a:extLst>
          </p:cNvPr>
          <p:cNvSpPr/>
          <p:nvPr/>
        </p:nvSpPr>
        <p:spPr>
          <a:xfrm>
            <a:off x="6617321" y="1765764"/>
            <a:ext cx="2182513" cy="2046525"/>
          </a:xfrm>
          <a:prstGeom prst="ellipse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MQTT Broker</a:t>
            </a:r>
          </a:p>
        </p:txBody>
      </p:sp>
      <p:sp>
        <p:nvSpPr>
          <p:cNvPr id="69" name="Flèche : droite 68">
            <a:extLst>
              <a:ext uri="{FF2B5EF4-FFF2-40B4-BE49-F238E27FC236}">
                <a16:creationId xmlns:a16="http://schemas.microsoft.com/office/drawing/2014/main" id="{B36D7807-CA53-C658-0CEF-7B944CE192F6}"/>
              </a:ext>
            </a:extLst>
          </p:cNvPr>
          <p:cNvSpPr/>
          <p:nvPr/>
        </p:nvSpPr>
        <p:spPr>
          <a:xfrm>
            <a:off x="4998850" y="2650865"/>
            <a:ext cx="1484938" cy="272007"/>
          </a:xfrm>
          <a:prstGeom prst="rightArrow">
            <a:avLst/>
          </a:prstGeom>
          <a:gradFill>
            <a:gsLst>
              <a:gs pos="0">
                <a:schemeClr val="accent1">
                  <a:lumMod val="75000"/>
                </a:schemeClr>
              </a:gs>
              <a:gs pos="100000">
                <a:schemeClr val="bg2">
                  <a:lumMod val="75000"/>
                </a:schemeClr>
              </a:gs>
            </a:gsLst>
            <a:lin ang="0" scaled="0"/>
          </a:gra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1" name="Ellipse 70">
            <a:extLst>
              <a:ext uri="{FF2B5EF4-FFF2-40B4-BE49-F238E27FC236}">
                <a16:creationId xmlns:a16="http://schemas.microsoft.com/office/drawing/2014/main" id="{74FF7C52-400B-F054-C3C1-C1F14EDAED65}"/>
              </a:ext>
            </a:extLst>
          </p:cNvPr>
          <p:cNvSpPr/>
          <p:nvPr/>
        </p:nvSpPr>
        <p:spPr>
          <a:xfrm>
            <a:off x="6575921" y="1728185"/>
            <a:ext cx="2271776" cy="2130227"/>
          </a:xfrm>
          <a:prstGeom prst="ellipse">
            <a:avLst/>
          </a:prstGeom>
          <a:noFill/>
          <a:ln w="38100"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3" name="ZoneTexte 72">
            <a:extLst>
              <a:ext uri="{FF2B5EF4-FFF2-40B4-BE49-F238E27FC236}">
                <a16:creationId xmlns:a16="http://schemas.microsoft.com/office/drawing/2014/main" id="{3D456DB2-B0FE-56E8-BDFD-B68EF14F2E21}"/>
              </a:ext>
            </a:extLst>
          </p:cNvPr>
          <p:cNvSpPr txBox="1"/>
          <p:nvPr/>
        </p:nvSpPr>
        <p:spPr>
          <a:xfrm>
            <a:off x="6739677" y="1103003"/>
            <a:ext cx="1824363" cy="57374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Trust Boundary</a:t>
            </a:r>
            <a:br>
              <a:rPr lang="en-GB" b="1" dirty="0">
                <a:solidFill>
                  <a:schemeClr val="accent3">
                    <a:lumMod val="75000"/>
                  </a:schemeClr>
                </a:solidFill>
              </a:rPr>
            </a:br>
            <a:r>
              <a:rPr lang="en-GB" b="1" dirty="0">
                <a:solidFill>
                  <a:schemeClr val="accent3">
                    <a:lumMod val="75000"/>
                  </a:schemeClr>
                </a:solidFill>
              </a:rPr>
              <a:t>Computer</a:t>
            </a:r>
          </a:p>
        </p:txBody>
      </p:sp>
      <p:grpSp>
        <p:nvGrpSpPr>
          <p:cNvPr id="124" name="Groupe 123">
            <a:extLst>
              <a:ext uri="{FF2B5EF4-FFF2-40B4-BE49-F238E27FC236}">
                <a16:creationId xmlns:a16="http://schemas.microsoft.com/office/drawing/2014/main" id="{C62474B1-9225-CDB0-8B92-5818538EDBD4}"/>
              </a:ext>
            </a:extLst>
          </p:cNvPr>
          <p:cNvGrpSpPr/>
          <p:nvPr/>
        </p:nvGrpSpPr>
        <p:grpSpPr>
          <a:xfrm>
            <a:off x="2124884" y="2661998"/>
            <a:ext cx="1143177" cy="369332"/>
            <a:chOff x="2124884" y="2661998"/>
            <a:chExt cx="1143177" cy="369332"/>
          </a:xfrm>
        </p:grpSpPr>
        <p:sp>
          <p:nvSpPr>
            <p:cNvPr id="74" name="ZoneTexte 73">
              <a:extLst>
                <a:ext uri="{FF2B5EF4-FFF2-40B4-BE49-F238E27FC236}">
                  <a16:creationId xmlns:a16="http://schemas.microsoft.com/office/drawing/2014/main" id="{895858F3-14D0-F07B-48A2-AB1BC5CBC705}"/>
                </a:ext>
              </a:extLst>
            </p:cNvPr>
            <p:cNvSpPr txBox="1"/>
            <p:nvPr/>
          </p:nvSpPr>
          <p:spPr>
            <a:xfrm>
              <a:off x="2124884" y="2661998"/>
              <a:ext cx="72648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b="1" dirty="0">
                  <a:latin typeface="Agency FB" panose="020B0503020202020204" pitchFamily="34" charset="0"/>
                </a:rPr>
                <a:t>MORSE</a:t>
              </a:r>
            </a:p>
          </p:txBody>
        </p:sp>
        <p:sp>
          <p:nvSpPr>
            <p:cNvPr id="75" name="Flèche : droite 74">
              <a:extLst>
                <a:ext uri="{FF2B5EF4-FFF2-40B4-BE49-F238E27FC236}">
                  <a16:creationId xmlns:a16="http://schemas.microsoft.com/office/drawing/2014/main" id="{4F2E9724-181B-7E1C-142E-08A6E65D9AAE}"/>
                </a:ext>
              </a:extLst>
            </p:cNvPr>
            <p:cNvSpPr/>
            <p:nvPr/>
          </p:nvSpPr>
          <p:spPr>
            <a:xfrm>
              <a:off x="2793936" y="2793298"/>
              <a:ext cx="474125" cy="129574"/>
            </a:xfrm>
            <a:prstGeom prst="rightArrow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2" name="Titre 1">
            <a:extLst>
              <a:ext uri="{FF2B5EF4-FFF2-40B4-BE49-F238E27FC236}">
                <a16:creationId xmlns:a16="http://schemas.microsoft.com/office/drawing/2014/main" id="{E805E0F7-7282-01E3-43ED-0E36C484A1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9072E8C-641C-1DAF-8116-8222A1656E3C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graphicFrame>
        <p:nvGraphicFramePr>
          <p:cNvPr id="21" name="Tableau 20">
            <a:extLst>
              <a:ext uri="{FF2B5EF4-FFF2-40B4-BE49-F238E27FC236}">
                <a16:creationId xmlns:a16="http://schemas.microsoft.com/office/drawing/2014/main" id="{FBB53037-EC87-7B17-B55D-5E45FF4BDB4F}"/>
              </a:ext>
            </a:extLst>
          </p:cNvPr>
          <p:cNvGraphicFramePr>
            <a:graphicFrameLocks noGrp="1"/>
          </p:cNvGraphicFramePr>
          <p:nvPr/>
        </p:nvGraphicFramePr>
        <p:xfrm>
          <a:off x="2152352" y="1785983"/>
          <a:ext cx="1331615" cy="6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ENC,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PUBLIC CODE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</a:tbl>
          </a:graphicData>
        </a:graphic>
      </p:graphicFrame>
      <p:graphicFrame>
        <p:nvGraphicFramePr>
          <p:cNvPr id="29" name="Diagramme 28">
            <a:extLst>
              <a:ext uri="{FF2B5EF4-FFF2-40B4-BE49-F238E27FC236}">
                <a16:creationId xmlns:a16="http://schemas.microsoft.com/office/drawing/2014/main" id="{0C68B81D-60C5-3F60-28F5-22E341ED4A44}"/>
              </a:ext>
            </a:extLst>
          </p:cNvPr>
          <p:cNvGraphicFramePr/>
          <p:nvPr/>
        </p:nvGraphicFramePr>
        <p:xfrm>
          <a:off x="1779751" y="3888976"/>
          <a:ext cx="4212076" cy="1551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pSp>
        <p:nvGrpSpPr>
          <p:cNvPr id="4" name="Groupe 3">
            <a:extLst>
              <a:ext uri="{FF2B5EF4-FFF2-40B4-BE49-F238E27FC236}">
                <a16:creationId xmlns:a16="http://schemas.microsoft.com/office/drawing/2014/main" id="{1C7D7683-9A7F-1C17-C28F-363B1E6D9B49}"/>
              </a:ext>
            </a:extLst>
          </p:cNvPr>
          <p:cNvGrpSpPr/>
          <p:nvPr/>
        </p:nvGrpSpPr>
        <p:grpSpPr>
          <a:xfrm>
            <a:off x="2414206" y="5362409"/>
            <a:ext cx="3577621" cy="1054425"/>
            <a:chOff x="2414206" y="5362409"/>
            <a:chExt cx="3577621" cy="1054425"/>
          </a:xfrm>
        </p:grpSpPr>
        <p:graphicFrame>
          <p:nvGraphicFramePr>
            <p:cNvPr id="28" name="Diagramme 27">
              <a:extLst>
                <a:ext uri="{FF2B5EF4-FFF2-40B4-BE49-F238E27FC236}">
                  <a16:creationId xmlns:a16="http://schemas.microsoft.com/office/drawing/2014/main" id="{65676E12-538E-9719-484D-7A014F8FB7D3}"/>
                </a:ext>
              </a:extLst>
            </p:cNvPr>
            <p:cNvGraphicFramePr/>
            <p:nvPr/>
          </p:nvGraphicFramePr>
          <p:xfrm>
            <a:off x="2414206" y="5513436"/>
            <a:ext cx="3577621" cy="903398"/>
          </p:xfrm>
          <a:graphic>
            <a:graphicData uri="http://schemas.openxmlformats.org/drawingml/2006/diagram">
              <dgm:relIds xmlns:dgm="http://schemas.openxmlformats.org/drawingml/2006/diagram" xmlns:r="http://schemas.openxmlformats.org/officeDocument/2006/relationships" r:dm="rId8" r:lo="rId9" r:qs="rId10" r:cs="rId11"/>
            </a:graphicData>
          </a:graphic>
        </p:graphicFrame>
        <p:sp>
          <p:nvSpPr>
            <p:cNvPr id="30" name="Flèche : bas 29">
              <a:extLst>
                <a:ext uri="{FF2B5EF4-FFF2-40B4-BE49-F238E27FC236}">
                  <a16:creationId xmlns:a16="http://schemas.microsoft.com/office/drawing/2014/main" id="{DC18A3FD-EDB5-D1D2-5E50-0AC9619AED6F}"/>
                </a:ext>
              </a:extLst>
            </p:cNvPr>
            <p:cNvSpPr/>
            <p:nvPr/>
          </p:nvSpPr>
          <p:spPr>
            <a:xfrm>
              <a:off x="5486291" y="5362409"/>
              <a:ext cx="418610" cy="51726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ED9ABEA4-DE7D-75E4-5DCA-A183930585C1}"/>
              </a:ext>
            </a:extLst>
          </p:cNvPr>
          <p:cNvSpPr/>
          <p:nvPr/>
        </p:nvSpPr>
        <p:spPr>
          <a:xfrm>
            <a:off x="1801791" y="5844657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Ram</a:t>
            </a: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CCBE4B9B-F611-7579-B2A7-A072646EA339}"/>
              </a:ext>
            </a:extLst>
          </p:cNvPr>
          <p:cNvSpPr/>
          <p:nvPr/>
        </p:nvSpPr>
        <p:spPr>
          <a:xfrm>
            <a:off x="1461888" y="1723683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sp>
        <p:nvSpPr>
          <p:cNvPr id="54" name="Forme libre : forme 53">
            <a:extLst>
              <a:ext uri="{FF2B5EF4-FFF2-40B4-BE49-F238E27FC236}">
                <a16:creationId xmlns:a16="http://schemas.microsoft.com/office/drawing/2014/main" id="{E6BFB09B-2A89-6CF4-47C2-80AB5C690408}"/>
              </a:ext>
            </a:extLst>
          </p:cNvPr>
          <p:cNvSpPr/>
          <p:nvPr/>
        </p:nvSpPr>
        <p:spPr>
          <a:xfrm>
            <a:off x="5795058" y="3067321"/>
            <a:ext cx="601884" cy="3287210"/>
          </a:xfrm>
          <a:custGeom>
            <a:avLst/>
            <a:gdLst>
              <a:gd name="connsiteX0" fmla="*/ 0 w 601884"/>
              <a:gd name="connsiteY0" fmla="*/ 0 h 3287210"/>
              <a:gd name="connsiteX1" fmla="*/ 0 w 601884"/>
              <a:gd name="connsiteY1" fmla="*/ 636608 h 3287210"/>
              <a:gd name="connsiteX2" fmla="*/ 601884 w 601884"/>
              <a:gd name="connsiteY2" fmla="*/ 1921398 h 3287210"/>
              <a:gd name="connsiteX3" fmla="*/ 601884 w 601884"/>
              <a:gd name="connsiteY3" fmla="*/ 3287210 h 328721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601884" h="3287210">
                <a:moveTo>
                  <a:pt x="0" y="0"/>
                </a:moveTo>
                <a:lnTo>
                  <a:pt x="0" y="636608"/>
                </a:lnTo>
                <a:lnTo>
                  <a:pt x="601884" y="1921398"/>
                </a:lnTo>
                <a:lnTo>
                  <a:pt x="601884" y="3287210"/>
                </a:lnTo>
              </a:path>
            </a:pathLst>
          </a:custGeom>
          <a:noFill/>
          <a:ln>
            <a:solidFill>
              <a:schemeClr val="accent1">
                <a:lumMod val="75000"/>
              </a:schemeClr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84" name="Connecteur : en angle 83">
            <a:extLst>
              <a:ext uri="{FF2B5EF4-FFF2-40B4-BE49-F238E27FC236}">
                <a16:creationId xmlns:a16="http://schemas.microsoft.com/office/drawing/2014/main" id="{FF75754D-2788-5E4C-13DF-0CD2E46C85C7}"/>
              </a:ext>
            </a:extLst>
          </p:cNvPr>
          <p:cNvCxnSpPr>
            <a:cxnSpLocks/>
            <a:stCxn id="28" idx="3"/>
            <a:endCxn id="64" idx="1"/>
          </p:cNvCxnSpPr>
          <p:nvPr/>
        </p:nvCxnSpPr>
        <p:spPr>
          <a:xfrm flipV="1">
            <a:off x="5991827" y="4415483"/>
            <a:ext cx="1071945" cy="1549652"/>
          </a:xfrm>
          <a:prstGeom prst="bentConnector3">
            <a:avLst>
              <a:gd name="adj1" fmla="val 50000"/>
            </a:avLst>
          </a:prstGeom>
          <a:ln w="104775">
            <a:solidFill>
              <a:schemeClr val="accent6">
                <a:lumMod val="40000"/>
                <a:lumOff val="60000"/>
                <a:alpha val="90000"/>
              </a:schemeClr>
            </a:solidFill>
            <a:tailEnd type="triangle" w="med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>
            <a:extLst>
              <a:ext uri="{FF2B5EF4-FFF2-40B4-BE49-F238E27FC236}">
                <a16:creationId xmlns:a16="http://schemas.microsoft.com/office/drawing/2014/main" id="{34A7CFE0-F17E-D436-9112-A5537B5F18EC}"/>
              </a:ext>
            </a:extLst>
          </p:cNvPr>
          <p:cNvSpPr/>
          <p:nvPr/>
        </p:nvSpPr>
        <p:spPr>
          <a:xfrm>
            <a:off x="1659637" y="5106870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grpSp>
        <p:nvGrpSpPr>
          <p:cNvPr id="96" name="Groupe 95">
            <a:extLst>
              <a:ext uri="{FF2B5EF4-FFF2-40B4-BE49-F238E27FC236}">
                <a16:creationId xmlns:a16="http://schemas.microsoft.com/office/drawing/2014/main" id="{53F15F77-75EC-47DE-4556-DC9B881FA42E}"/>
              </a:ext>
            </a:extLst>
          </p:cNvPr>
          <p:cNvGrpSpPr/>
          <p:nvPr/>
        </p:nvGrpSpPr>
        <p:grpSpPr>
          <a:xfrm>
            <a:off x="7038024" y="4189633"/>
            <a:ext cx="3494339" cy="926927"/>
            <a:chOff x="7038024" y="4189633"/>
            <a:chExt cx="3324463" cy="926927"/>
          </a:xfrm>
        </p:grpSpPr>
        <p:grpSp>
          <p:nvGrpSpPr>
            <p:cNvPr id="61" name="Groupe 60">
              <a:extLst>
                <a:ext uri="{FF2B5EF4-FFF2-40B4-BE49-F238E27FC236}">
                  <a16:creationId xmlns:a16="http://schemas.microsoft.com/office/drawing/2014/main" id="{91A18433-245E-4354-3181-03AF52793D77}"/>
                </a:ext>
              </a:extLst>
            </p:cNvPr>
            <p:cNvGrpSpPr/>
            <p:nvPr/>
          </p:nvGrpSpPr>
          <p:grpSpPr>
            <a:xfrm>
              <a:off x="7050272" y="4189633"/>
              <a:ext cx="3312215" cy="451699"/>
              <a:chOff x="0" y="225849"/>
              <a:chExt cx="3577621" cy="451699"/>
            </a:xfrm>
          </p:grpSpPr>
          <p:sp>
            <p:nvSpPr>
              <p:cNvPr id="63" name="Rectangle : coins arrondis 62">
                <a:extLst>
                  <a:ext uri="{FF2B5EF4-FFF2-40B4-BE49-F238E27FC236}">
                    <a16:creationId xmlns:a16="http://schemas.microsoft.com/office/drawing/2014/main" id="{A501E3B3-09F2-B5E0-E18B-B57D5BA3FC81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64" name="Rectangle : coins arrondis 4">
                <a:extLst>
                  <a:ext uri="{FF2B5EF4-FFF2-40B4-BE49-F238E27FC236}">
                    <a16:creationId xmlns:a16="http://schemas.microsoft.com/office/drawing/2014/main" id="{907AEC39-74DC-D573-0DD5-F141DE476FDE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Mess = Enc [</a:t>
                </a:r>
                <a:r>
                  <a:rPr lang="en-GB" sz="2400" dirty="0">
                    <a:latin typeface="Agency FB" panose="020B0503020202020204" pitchFamily="34" charset="0"/>
                  </a:rPr>
                  <a:t>P</a:t>
                </a:r>
                <a:r>
                  <a:rPr lang="en-GB" sz="2400" kern="1200" dirty="0">
                    <a:latin typeface="Agency FB" panose="020B0503020202020204" pitchFamily="34" charset="0"/>
                  </a:rPr>
                  <a:t>ayload, Key Plain]</a:t>
                </a:r>
              </a:p>
            </p:txBody>
          </p:sp>
        </p:grpSp>
        <p:sp>
          <p:nvSpPr>
            <p:cNvPr id="90" name="Rectangle : coins arrondis 89">
              <a:extLst>
                <a:ext uri="{FF2B5EF4-FFF2-40B4-BE49-F238E27FC236}">
                  <a16:creationId xmlns:a16="http://schemas.microsoft.com/office/drawing/2014/main" id="{3D8B42E3-166F-8A0C-5F03-0204986A342E}"/>
                </a:ext>
              </a:extLst>
            </p:cNvPr>
            <p:cNvSpPr/>
            <p:nvPr/>
          </p:nvSpPr>
          <p:spPr>
            <a:xfrm>
              <a:off x="7038024" y="4664861"/>
              <a:ext cx="3312215" cy="451699"/>
            </a:xfrm>
            <a:prstGeom prst="roundRect">
              <a:avLst>
                <a:gd name="adj" fmla="val 10000"/>
              </a:avLst>
            </a:prstGeom>
            <a:solidFill>
              <a:schemeClr val="accent3">
                <a:lumMod val="75000"/>
              </a:schemeClr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  <p:txBody>
            <a:bodyPr/>
            <a:lstStyle/>
            <a:p>
              <a:pPr algn="ctr"/>
              <a:r>
                <a:rPr lang="en-GB" sz="2400" dirty="0">
                  <a:latin typeface="Agency FB" panose="020B0503020202020204" pitchFamily="34" charset="0"/>
                </a:rPr>
                <a:t>Sign = Hashed [Mess, Key Plain]</a:t>
              </a:r>
            </a:p>
          </p:txBody>
        </p:sp>
      </p:grpSp>
      <p:graphicFrame>
        <p:nvGraphicFramePr>
          <p:cNvPr id="115" name="Tableau 114">
            <a:extLst>
              <a:ext uri="{FF2B5EF4-FFF2-40B4-BE49-F238E27FC236}">
                <a16:creationId xmlns:a16="http://schemas.microsoft.com/office/drawing/2014/main" id="{8B7328E4-F348-B736-8032-DE256974247B}"/>
              </a:ext>
            </a:extLst>
          </p:cNvPr>
          <p:cNvGraphicFramePr>
            <a:graphicFrameLocks noGrp="1"/>
          </p:cNvGraphicFramePr>
          <p:nvPr/>
        </p:nvGraphicFramePr>
        <p:xfrm>
          <a:off x="8564040" y="1807063"/>
          <a:ext cx="1331615" cy="6126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31615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b="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KEY ENC,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06305">
                <a:tc>
                  <a:txBody>
                    <a:bodyPr/>
                    <a:lstStyle/>
                    <a:p>
                      <a:pPr algn="ctr"/>
                      <a:r>
                        <a:rPr lang="en-GB" sz="1400" dirty="0">
                          <a:solidFill>
                            <a:schemeClr val="tx1"/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LOG</a:t>
                      </a:r>
                    </a:p>
                  </a:txBody>
                  <a:tcPr marT="46800">
                    <a:solidFill>
                      <a:srgbClr val="FFC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</a:tbl>
          </a:graphicData>
        </a:graphic>
      </p:graphicFrame>
      <p:sp>
        <p:nvSpPr>
          <p:cNvPr id="116" name="Rectangle 115">
            <a:extLst>
              <a:ext uri="{FF2B5EF4-FFF2-40B4-BE49-F238E27FC236}">
                <a16:creationId xmlns:a16="http://schemas.microsoft.com/office/drawing/2014/main" id="{DBE4C736-351B-64DD-7720-ED8AA51A340F}"/>
              </a:ext>
            </a:extLst>
          </p:cNvPr>
          <p:cNvSpPr/>
          <p:nvPr/>
        </p:nvSpPr>
        <p:spPr>
          <a:xfrm>
            <a:off x="9798808" y="2006939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OS</a:t>
            </a:r>
          </a:p>
        </p:txBody>
      </p:sp>
      <p:grpSp>
        <p:nvGrpSpPr>
          <p:cNvPr id="6" name="Groupe 5">
            <a:extLst>
              <a:ext uri="{FF2B5EF4-FFF2-40B4-BE49-F238E27FC236}">
                <a16:creationId xmlns:a16="http://schemas.microsoft.com/office/drawing/2014/main" id="{435059EA-600B-BAFF-DE80-9DEAA25F3125}"/>
              </a:ext>
            </a:extLst>
          </p:cNvPr>
          <p:cNvGrpSpPr/>
          <p:nvPr/>
        </p:nvGrpSpPr>
        <p:grpSpPr>
          <a:xfrm>
            <a:off x="9225023" y="2465408"/>
            <a:ext cx="1588275" cy="1643605"/>
            <a:chOff x="9225023" y="2465408"/>
            <a:chExt cx="1588275" cy="1643605"/>
          </a:xfrm>
        </p:grpSpPr>
        <p:sp>
          <p:nvSpPr>
            <p:cNvPr id="117" name="Forme libre : forme 116">
              <a:extLst>
                <a:ext uri="{FF2B5EF4-FFF2-40B4-BE49-F238E27FC236}">
                  <a16:creationId xmlns:a16="http://schemas.microsoft.com/office/drawing/2014/main" id="{732E4372-4E7E-B0D9-E27F-965C9EFF1C04}"/>
                </a:ext>
              </a:extLst>
            </p:cNvPr>
            <p:cNvSpPr/>
            <p:nvPr/>
          </p:nvSpPr>
          <p:spPr>
            <a:xfrm>
              <a:off x="9225023" y="2465408"/>
              <a:ext cx="333679" cy="1643605"/>
            </a:xfrm>
            <a:custGeom>
              <a:avLst/>
              <a:gdLst>
                <a:gd name="connsiteX0" fmla="*/ 0 w 333679"/>
                <a:gd name="connsiteY0" fmla="*/ 1643605 h 1643605"/>
                <a:gd name="connsiteX1" fmla="*/ 162045 w 333679"/>
                <a:gd name="connsiteY1" fmla="*/ 1099595 h 1643605"/>
                <a:gd name="connsiteX2" fmla="*/ 324091 w 333679"/>
                <a:gd name="connsiteY2" fmla="*/ 300941 h 1643605"/>
                <a:gd name="connsiteX3" fmla="*/ 300942 w 333679"/>
                <a:gd name="connsiteY3" fmla="*/ 0 h 164360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3679" h="1643605">
                  <a:moveTo>
                    <a:pt x="0" y="1643605"/>
                  </a:moveTo>
                  <a:cubicBezTo>
                    <a:pt x="54015" y="1483488"/>
                    <a:pt x="108030" y="1323372"/>
                    <a:pt x="162045" y="1099595"/>
                  </a:cubicBezTo>
                  <a:cubicBezTo>
                    <a:pt x="216060" y="875818"/>
                    <a:pt x="300942" y="484207"/>
                    <a:pt x="324091" y="300941"/>
                  </a:cubicBezTo>
                  <a:cubicBezTo>
                    <a:pt x="347240" y="117675"/>
                    <a:pt x="324091" y="58837"/>
                    <a:pt x="300942" y="0"/>
                  </a:cubicBezTo>
                </a:path>
              </a:pathLst>
            </a:custGeom>
            <a:noFill/>
            <a:ln>
              <a:tailEnd type="triangle"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19" name="ZoneTexte 118">
              <a:extLst>
                <a:ext uri="{FF2B5EF4-FFF2-40B4-BE49-F238E27FC236}">
                  <a16:creationId xmlns:a16="http://schemas.microsoft.com/office/drawing/2014/main" id="{7D57427F-07CE-0509-B34A-A4157F30A40C}"/>
                </a:ext>
              </a:extLst>
            </p:cNvPr>
            <p:cNvSpPr txBox="1"/>
            <p:nvPr/>
          </p:nvSpPr>
          <p:spPr>
            <a:xfrm>
              <a:off x="9488896" y="3169622"/>
              <a:ext cx="132440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dirty="0">
                  <a:latin typeface="Agency FB" panose="020B0503020202020204" pitchFamily="34" charset="0"/>
                </a:rPr>
                <a:t>Saved in log file</a:t>
              </a:r>
            </a:p>
          </p:txBody>
        </p:sp>
      </p:grpSp>
      <p:grpSp>
        <p:nvGrpSpPr>
          <p:cNvPr id="5" name="Groupe 4">
            <a:extLst>
              <a:ext uri="{FF2B5EF4-FFF2-40B4-BE49-F238E27FC236}">
                <a16:creationId xmlns:a16="http://schemas.microsoft.com/office/drawing/2014/main" id="{474675E5-1026-EF14-DD5D-2A4CA7B1FDB5}"/>
              </a:ext>
            </a:extLst>
          </p:cNvPr>
          <p:cNvGrpSpPr/>
          <p:nvPr/>
        </p:nvGrpSpPr>
        <p:grpSpPr>
          <a:xfrm>
            <a:off x="7110922" y="5216418"/>
            <a:ext cx="3577621" cy="1029220"/>
            <a:chOff x="7110922" y="5216418"/>
            <a:chExt cx="3577621" cy="1029220"/>
          </a:xfrm>
        </p:grpSpPr>
        <p:sp>
          <p:nvSpPr>
            <p:cNvPr id="120" name="Flèche : bas 119">
              <a:extLst>
                <a:ext uri="{FF2B5EF4-FFF2-40B4-BE49-F238E27FC236}">
                  <a16:creationId xmlns:a16="http://schemas.microsoft.com/office/drawing/2014/main" id="{58FD9440-FE90-24B5-11A1-F6F173F41A55}"/>
                </a:ext>
              </a:extLst>
            </p:cNvPr>
            <p:cNvSpPr/>
            <p:nvPr/>
          </p:nvSpPr>
          <p:spPr>
            <a:xfrm>
              <a:off x="8709957" y="5216418"/>
              <a:ext cx="418610" cy="517265"/>
            </a:xfrm>
            <a:prstGeom prst="downArrow">
              <a:avLst/>
            </a:prstGeom>
            <a:solidFill>
              <a:schemeClr val="accent6">
                <a:lumMod val="60000"/>
                <a:lumOff val="40000"/>
                <a:alpha val="9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grpSp>
          <p:nvGrpSpPr>
            <p:cNvPr id="121" name="Groupe 120">
              <a:extLst>
                <a:ext uri="{FF2B5EF4-FFF2-40B4-BE49-F238E27FC236}">
                  <a16:creationId xmlns:a16="http://schemas.microsoft.com/office/drawing/2014/main" id="{536DF6D6-E98E-1AAC-772A-7F6499F8EDCF}"/>
                </a:ext>
              </a:extLst>
            </p:cNvPr>
            <p:cNvGrpSpPr/>
            <p:nvPr/>
          </p:nvGrpSpPr>
          <p:grpSpPr>
            <a:xfrm>
              <a:off x="7110922" y="5793939"/>
              <a:ext cx="3577621" cy="451699"/>
              <a:chOff x="0" y="225849"/>
              <a:chExt cx="3577621" cy="451699"/>
            </a:xfrm>
          </p:grpSpPr>
          <p:sp>
            <p:nvSpPr>
              <p:cNvPr id="122" name="Rectangle : coins arrondis 121">
                <a:extLst>
                  <a:ext uri="{FF2B5EF4-FFF2-40B4-BE49-F238E27FC236}">
                    <a16:creationId xmlns:a16="http://schemas.microsoft.com/office/drawing/2014/main" id="{5DDC1045-3BEE-CDF0-C8FB-4A7FC57D85F7}"/>
                  </a:ext>
                </a:extLst>
              </p:cNvPr>
              <p:cNvSpPr/>
              <p:nvPr/>
            </p:nvSpPr>
            <p:spPr>
              <a:xfrm>
                <a:off x="0" y="225849"/>
                <a:ext cx="3577621" cy="451699"/>
              </a:xfrm>
              <a:prstGeom prst="roundRect">
                <a:avLst>
                  <a:gd name="adj" fmla="val 10000"/>
                </a:avLst>
              </a:prstGeom>
              <a:solidFill>
                <a:schemeClr val="accent3">
                  <a:lumMod val="75000"/>
                </a:schemeClr>
              </a:solidFill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GB"/>
              </a:p>
            </p:txBody>
          </p:sp>
          <p:sp>
            <p:nvSpPr>
              <p:cNvPr id="123" name="Rectangle : coins arrondis 4">
                <a:extLst>
                  <a:ext uri="{FF2B5EF4-FFF2-40B4-BE49-F238E27FC236}">
                    <a16:creationId xmlns:a16="http://schemas.microsoft.com/office/drawing/2014/main" id="{83BF67D4-0F90-0000-1F77-E3F06C2E6BD8}"/>
                  </a:ext>
                </a:extLst>
              </p:cNvPr>
              <p:cNvSpPr txBox="1"/>
              <p:nvPr/>
            </p:nvSpPr>
            <p:spPr>
              <a:xfrm>
                <a:off x="13230" y="239079"/>
                <a:ext cx="3551161" cy="425239"/>
              </a:xfrm>
              <a:prstGeom prst="rect">
                <a:avLst/>
              </a:prstGeom>
              <a:solidFill>
                <a:schemeClr val="bg2">
                  <a:lumMod val="75000"/>
                </a:schemeClr>
              </a:solidFill>
              <a:ln>
                <a:noFill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91440" tIns="91440" rIns="91440" bIns="91440" numCol="1" spcCol="1270" anchor="ctr" anchorCtr="0">
                <a:noAutofit/>
              </a:bodyPr>
              <a:lstStyle/>
              <a:p>
                <a:pPr marL="0" lvl="0" indent="0" algn="ctr" defTabSz="106680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  <a:buNone/>
                </a:pPr>
                <a:r>
                  <a:rPr lang="en-GB" sz="2400" kern="1200" dirty="0">
                    <a:latin typeface="Agency FB" panose="020B0503020202020204" pitchFamily="34" charset="0"/>
                  </a:rPr>
                  <a:t>Subscriber ESP32</a:t>
                </a:r>
              </a:p>
            </p:txBody>
          </p:sp>
        </p:grpSp>
      </p:grpSp>
      <p:sp>
        <p:nvSpPr>
          <p:cNvPr id="9" name="ZoneTexte 8">
            <a:extLst>
              <a:ext uri="{FF2B5EF4-FFF2-40B4-BE49-F238E27FC236}">
                <a16:creationId xmlns:a16="http://schemas.microsoft.com/office/drawing/2014/main" id="{BC717121-43C4-9C70-F229-2910B3403693}"/>
              </a:ext>
            </a:extLst>
          </p:cNvPr>
          <p:cNvSpPr txBox="1"/>
          <p:nvPr/>
        </p:nvSpPr>
        <p:spPr>
          <a:xfrm>
            <a:off x="4249970" y="1307411"/>
            <a:ext cx="9701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solidFill>
                  <a:srgbClr val="FF0000"/>
                </a:solidFill>
                <a:latin typeface="Agency FB" panose="020B0503020202020204" pitchFamily="34" charset="0"/>
              </a:rPr>
              <a:t>Rate Limit</a:t>
            </a:r>
          </a:p>
        </p:txBody>
      </p:sp>
      <p:sp>
        <p:nvSpPr>
          <p:cNvPr id="13" name="Forme libre : forme 12">
            <a:extLst>
              <a:ext uri="{FF2B5EF4-FFF2-40B4-BE49-F238E27FC236}">
                <a16:creationId xmlns:a16="http://schemas.microsoft.com/office/drawing/2014/main" id="{C05E050D-0CE4-35EA-E3A1-8DFCE69F03F5}"/>
              </a:ext>
            </a:extLst>
          </p:cNvPr>
          <p:cNvSpPr/>
          <p:nvPr/>
        </p:nvSpPr>
        <p:spPr>
          <a:xfrm>
            <a:off x="4748645" y="1662545"/>
            <a:ext cx="73031" cy="353291"/>
          </a:xfrm>
          <a:custGeom>
            <a:avLst/>
            <a:gdLst>
              <a:gd name="connsiteX0" fmla="*/ 20782 w 73031"/>
              <a:gd name="connsiteY0" fmla="*/ 0 h 353291"/>
              <a:gd name="connsiteX1" fmla="*/ 72737 w 73031"/>
              <a:gd name="connsiteY1" fmla="*/ 135082 h 353291"/>
              <a:gd name="connsiteX2" fmla="*/ 0 w 73031"/>
              <a:gd name="connsiteY2" fmla="*/ 353291 h 3532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73031" h="353291">
                <a:moveTo>
                  <a:pt x="20782" y="0"/>
                </a:moveTo>
                <a:cubicBezTo>
                  <a:pt x="48491" y="38100"/>
                  <a:pt x="76201" y="76200"/>
                  <a:pt x="72737" y="135082"/>
                </a:cubicBezTo>
                <a:cubicBezTo>
                  <a:pt x="69273" y="193964"/>
                  <a:pt x="34636" y="273627"/>
                  <a:pt x="0" y="353291"/>
                </a:cubicBezTo>
              </a:path>
            </a:pathLst>
          </a:custGeom>
          <a:noFill/>
          <a:ln w="28575">
            <a:solidFill>
              <a:srgbClr val="FF0000"/>
            </a:solidFill>
            <a:tailEnd type="triangle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7747BD4-0248-9C78-7EE1-4C5EF073B7E0}"/>
              </a:ext>
            </a:extLst>
          </p:cNvPr>
          <p:cNvSpPr/>
          <p:nvPr/>
        </p:nvSpPr>
        <p:spPr>
          <a:xfrm>
            <a:off x="1472279" y="1713845"/>
            <a:ext cx="856527" cy="250794"/>
          </a:xfrm>
          <a:prstGeom prst="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" name="ZoneTexte 2">
            <a:extLst>
              <a:ext uri="{FF2B5EF4-FFF2-40B4-BE49-F238E27FC236}">
                <a16:creationId xmlns:a16="http://schemas.microsoft.com/office/drawing/2014/main" id="{8BB6F836-8C84-A27A-1303-DB17604516A9}"/>
              </a:ext>
            </a:extLst>
          </p:cNvPr>
          <p:cNvSpPr txBox="1"/>
          <p:nvPr/>
        </p:nvSpPr>
        <p:spPr>
          <a:xfrm>
            <a:off x="278681" y="1243204"/>
            <a:ext cx="387157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Security Mitigation - </a:t>
            </a:r>
            <a:r>
              <a:rPr lang="en-GB" sz="2000" b="1" dirty="0">
                <a:solidFill>
                  <a:srgbClr val="FF0000"/>
                </a:solidFill>
              </a:rPr>
              <a:t>Features</a:t>
            </a:r>
            <a:endParaRPr lang="en-GB" sz="2400" b="1" dirty="0">
              <a:solidFill>
                <a:srgbClr val="FF0000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095E5F6B-C0E9-812B-FF5F-1E538CB74BAC}"/>
              </a:ext>
            </a:extLst>
          </p:cNvPr>
          <p:cNvSpPr txBox="1"/>
          <p:nvPr/>
        </p:nvSpPr>
        <p:spPr>
          <a:xfrm>
            <a:off x="8507859" y="6269167"/>
            <a:ext cx="23054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gency FB" panose="020B0503020202020204" pitchFamily="34" charset="0"/>
              </a:rPr>
              <a:t>Quiet Mode implementation</a:t>
            </a:r>
          </a:p>
        </p:txBody>
      </p:sp>
    </p:spTree>
    <p:extLst>
      <p:ext uri="{BB962C8B-B14F-4D97-AF65-F5344CB8AC3E}">
        <p14:creationId xmlns:p14="http://schemas.microsoft.com/office/powerpoint/2010/main" val="2066016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9" grpId="0">
        <p:bldAsOne/>
      </p:bldGraphic>
      <p:bldP spid="39" grpId="0" animBg="1"/>
      <p:bldP spid="40" grpId="0" animBg="1"/>
      <p:bldP spid="89" grpId="0" animBg="1"/>
      <p:bldP spid="116" grpId="0" animBg="1"/>
      <p:bldP spid="9" grpId="0"/>
      <p:bldP spid="13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>
            <a:extLst>
              <a:ext uri="{FF2B5EF4-FFF2-40B4-BE49-F238E27FC236}">
                <a16:creationId xmlns:a16="http://schemas.microsoft.com/office/drawing/2014/main" id="{6C3948F1-8918-7CDA-EDD5-4B609BFC623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5142966"/>
              </p:ext>
            </p:extLst>
          </p:nvPr>
        </p:nvGraphicFramePr>
        <p:xfrm>
          <a:off x="3374871" y="3269216"/>
          <a:ext cx="4212076" cy="155177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C3DDCFCF-778C-69B0-8135-A7E2FCE40B2C}"/>
              </a:ext>
            </a:extLst>
          </p:cNvPr>
          <p:cNvSpPr/>
          <p:nvPr/>
        </p:nvSpPr>
        <p:spPr>
          <a:xfrm>
            <a:off x="3254757" y="4487110"/>
            <a:ext cx="856527" cy="2409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>
                <a:latin typeface="Agency FB" panose="020B0503020202020204" pitchFamily="34" charset="0"/>
              </a:rPr>
              <a:t>Flash</a:t>
            </a:r>
          </a:p>
        </p:txBody>
      </p:sp>
      <p:pic>
        <p:nvPicPr>
          <p:cNvPr id="11" name="Image 10" descr="Une image contenant appareil de cuisine, Électroménager, électroménager, plat chaud&#10;&#10;Le contenu généré par l’IA peut être incorrect.">
            <a:extLst>
              <a:ext uri="{FF2B5EF4-FFF2-40B4-BE49-F238E27FC236}">
                <a16:creationId xmlns:a16="http://schemas.microsoft.com/office/drawing/2014/main" id="{7C1B6FA9-0296-DA20-819E-4D4750CF6B9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0716" y="1584950"/>
            <a:ext cx="903680" cy="797730"/>
          </a:xfrm>
          <a:prstGeom prst="ellipse">
            <a:avLst/>
          </a:prstGeom>
        </p:spPr>
      </p:pic>
      <p:pic>
        <p:nvPicPr>
          <p:cNvPr id="13" name="Image 12" descr="Une image contenant texte, capture d’écran, conception&#10;&#10;Le contenu généré par l’IA peut être incorrect.">
            <a:extLst>
              <a:ext uri="{FF2B5EF4-FFF2-40B4-BE49-F238E27FC236}">
                <a16:creationId xmlns:a16="http://schemas.microsoft.com/office/drawing/2014/main" id="{75F3147D-B622-748A-11E7-259C9228AC8A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57613" y="1233117"/>
            <a:ext cx="3697106" cy="1684276"/>
          </a:xfrm>
          <a:prstGeom prst="rect">
            <a:avLst/>
          </a:prstGeom>
        </p:spPr>
      </p:pic>
      <p:sp>
        <p:nvSpPr>
          <p:cNvPr id="14" name="ZoneTexte 13">
            <a:extLst>
              <a:ext uri="{FF2B5EF4-FFF2-40B4-BE49-F238E27FC236}">
                <a16:creationId xmlns:a16="http://schemas.microsoft.com/office/drawing/2014/main" id="{66D7BDAC-1F30-C1C4-9882-5053640B2BB7}"/>
              </a:ext>
            </a:extLst>
          </p:cNvPr>
          <p:cNvSpPr txBox="1"/>
          <p:nvPr/>
        </p:nvSpPr>
        <p:spPr>
          <a:xfrm>
            <a:off x="8338286" y="863785"/>
            <a:ext cx="12522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>
                <a:latin typeface="Agency FB" panose="020B0503020202020204" pitchFamily="34" charset="0"/>
              </a:rPr>
              <a:t>MORSE TABLE</a:t>
            </a:r>
          </a:p>
        </p:txBody>
      </p:sp>
      <p:sp>
        <p:nvSpPr>
          <p:cNvPr id="15" name="Flèche : droite 14">
            <a:extLst>
              <a:ext uri="{FF2B5EF4-FFF2-40B4-BE49-F238E27FC236}">
                <a16:creationId xmlns:a16="http://schemas.microsoft.com/office/drawing/2014/main" id="{0CA25D87-8B8F-3E3D-A7A4-A8D52A092070}"/>
              </a:ext>
            </a:extLst>
          </p:cNvPr>
          <p:cNvSpPr/>
          <p:nvPr/>
        </p:nvSpPr>
        <p:spPr>
          <a:xfrm rot="10800000">
            <a:off x="6096000" y="1910080"/>
            <a:ext cx="792480" cy="304800"/>
          </a:xfrm>
          <a:prstGeom prst="rightArrow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Flèche : droite 15">
            <a:extLst>
              <a:ext uri="{FF2B5EF4-FFF2-40B4-BE49-F238E27FC236}">
                <a16:creationId xmlns:a16="http://schemas.microsoft.com/office/drawing/2014/main" id="{2697A369-511E-1026-EC41-57D79415C023}"/>
              </a:ext>
            </a:extLst>
          </p:cNvPr>
          <p:cNvSpPr/>
          <p:nvPr/>
        </p:nvSpPr>
        <p:spPr>
          <a:xfrm rot="5400000">
            <a:off x="4888652" y="2673142"/>
            <a:ext cx="587807" cy="305622"/>
          </a:xfrm>
          <a:prstGeom prst="rightArrow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502691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4" grpId="0">
        <p:bldAsOne/>
      </p:bldGraphic>
      <p:bldP spid="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80ED94-CEB1-DFCB-8CA9-17650103D6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DDCE84F-1DDF-6E90-9945-B03B626C86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21815" y="175098"/>
            <a:ext cx="6709185" cy="1051184"/>
          </a:xfrm>
        </p:spPr>
        <p:txBody>
          <a:bodyPr>
            <a:normAutofit/>
          </a:bodyPr>
          <a:lstStyle/>
          <a:p>
            <a:pPr algn="l"/>
            <a:r>
              <a:rPr lang="en-GB" sz="2800" dirty="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 dirty="0"/>
            </a:br>
            <a:r>
              <a:rPr lang="en-GB" sz="3200" dirty="0"/>
              <a:t>ESP32 Project</a:t>
            </a:r>
            <a:endParaRPr lang="en-GB" sz="2800" dirty="0"/>
          </a:p>
        </p:txBody>
      </p:sp>
      <p:sp>
        <p:nvSpPr>
          <p:cNvPr id="27" name="ZoneTexte 26">
            <a:extLst>
              <a:ext uri="{FF2B5EF4-FFF2-40B4-BE49-F238E27FC236}">
                <a16:creationId xmlns:a16="http://schemas.microsoft.com/office/drawing/2014/main" id="{4C652501-DCB9-CDF1-BF21-AC61BC5BC12C}"/>
              </a:ext>
            </a:extLst>
          </p:cNvPr>
          <p:cNvSpPr txBox="1"/>
          <p:nvPr/>
        </p:nvSpPr>
        <p:spPr>
          <a:xfrm>
            <a:off x="359924" y="1532564"/>
            <a:ext cx="263565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b="1" dirty="0"/>
              <a:t>Additional Features</a:t>
            </a:r>
            <a:endParaRPr lang="en-GB" sz="2400" b="1" dirty="0"/>
          </a:p>
        </p:txBody>
      </p:sp>
      <p:pic>
        <p:nvPicPr>
          <p:cNvPr id="3" name="Image 2" descr="Une image contenant cercle, léger&#10;&#10;Le contenu généré par l’IA peut être incorrect.">
            <a:extLst>
              <a:ext uri="{FF2B5EF4-FFF2-40B4-BE49-F238E27FC236}">
                <a16:creationId xmlns:a16="http://schemas.microsoft.com/office/drawing/2014/main" id="{6B518756-1601-5FB9-8E40-A06B1D70971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76990" y="219330"/>
            <a:ext cx="1574268" cy="1576866"/>
          </a:xfrm>
          <a:prstGeom prst="rect">
            <a:avLst/>
          </a:prstGeom>
        </p:spPr>
      </p:pic>
      <p:graphicFrame>
        <p:nvGraphicFramePr>
          <p:cNvPr id="18" name="Tableau 17">
            <a:extLst>
              <a:ext uri="{FF2B5EF4-FFF2-40B4-BE49-F238E27FC236}">
                <a16:creationId xmlns:a16="http://schemas.microsoft.com/office/drawing/2014/main" id="{31A9B320-A3E1-7664-0D63-6E66648E5111}"/>
              </a:ext>
            </a:extLst>
          </p:cNvPr>
          <p:cNvGraphicFramePr>
            <a:graphicFrameLocks noGrp="1"/>
          </p:cNvGraphicFramePr>
          <p:nvPr/>
        </p:nvGraphicFramePr>
        <p:xfrm>
          <a:off x="12913254" y="295572"/>
          <a:ext cx="1962513" cy="211576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2513">
                  <a:extLst>
                    <a:ext uri="{9D8B030D-6E8A-4147-A177-3AD203B41FA5}">
                      <a16:colId xmlns:a16="http://schemas.microsoft.com/office/drawing/2014/main" val="2150897088"/>
                    </a:ext>
                  </a:extLst>
                </a:gridCol>
              </a:tblGrid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b="0" dirty="0">
                          <a:solidFill>
                            <a:schemeClr val="bg1">
                              <a:lumMod val="9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SPOOFING</a:t>
                      </a:r>
                    </a:p>
                  </a:txBody>
                  <a:tcPr>
                    <a:solidFill>
                      <a:schemeClr val="tx2">
                        <a:lumMod val="75000"/>
                        <a:lumOff val="2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80762907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TAMPERING</a:t>
                      </a:r>
                    </a:p>
                  </a:txBody>
                  <a:tcPr>
                    <a:solidFill>
                      <a:schemeClr val="accent1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905740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REPUDATION</a:t>
                      </a:r>
                    </a:p>
                  </a:txBody>
                  <a:tcPr>
                    <a:solidFill>
                      <a:schemeClr val="accent3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1220251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INFO DISCLOSURE</a:t>
                      </a:r>
                    </a:p>
                  </a:txBody>
                  <a:tcPr>
                    <a:solidFill>
                      <a:schemeClr val="accent6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846139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DENIALS OF SERVICE</a:t>
                      </a:r>
                    </a:p>
                  </a:txBody>
                  <a:tcPr>
                    <a:solidFill>
                      <a:schemeClr val="bg2">
                        <a:lumMod val="5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9953216"/>
                  </a:ext>
                </a:extLst>
              </a:tr>
              <a:tr h="352628">
                <a:tc>
                  <a:txBody>
                    <a:bodyPr/>
                    <a:lstStyle/>
                    <a:p>
                      <a:pPr algn="ctr"/>
                      <a:r>
                        <a:rPr lang="en-GB" sz="16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Agency FB" panose="020B0503020202020204" pitchFamily="34" charset="0"/>
                          <a:ea typeface="ADLaM Display" panose="020F0502020204030204" pitchFamily="2" charset="0"/>
                          <a:cs typeface="ADLaM Display" panose="020F0502020204030204" pitchFamily="2" charset="0"/>
                        </a:rPr>
                        <a:t>ELEVATION OF PRIVILEGE</a:t>
                      </a:r>
                    </a:p>
                  </a:txBody>
                  <a:tcPr>
                    <a:solidFill>
                      <a:schemeClr val="bg2">
                        <a:lumMod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10700094"/>
                  </a:ext>
                </a:extLst>
              </a:tr>
            </a:tbl>
          </a:graphicData>
        </a:graphic>
      </p:graphicFrame>
      <p:sp>
        <p:nvSpPr>
          <p:cNvPr id="4" name="ZoneTexte 3">
            <a:extLst>
              <a:ext uri="{FF2B5EF4-FFF2-40B4-BE49-F238E27FC236}">
                <a16:creationId xmlns:a16="http://schemas.microsoft.com/office/drawing/2014/main" id="{253D7594-6414-913B-FA2D-A9314CB06FBB}"/>
              </a:ext>
            </a:extLst>
          </p:cNvPr>
          <p:cNvSpPr txBox="1"/>
          <p:nvPr/>
        </p:nvSpPr>
        <p:spPr>
          <a:xfrm>
            <a:off x="359924" y="2238956"/>
            <a:ext cx="507542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Dashboard with decrypted message</a:t>
            </a:r>
            <a:br>
              <a:rPr lang="en-GB" dirty="0"/>
            </a:br>
            <a:endParaRPr lang="en-GB" dirty="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GB" dirty="0"/>
              <a:t>Attack detection and display on dashboard</a:t>
            </a:r>
          </a:p>
        </p:txBody>
      </p:sp>
    </p:spTree>
    <p:extLst>
      <p:ext uri="{BB962C8B-B14F-4D97-AF65-F5344CB8AC3E}">
        <p14:creationId xmlns:p14="http://schemas.microsoft.com/office/powerpoint/2010/main" val="37829162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0B0B4ED3-8EDF-B6DA-2E1D-B578ACD80F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1970" y="1542955"/>
            <a:ext cx="7781925" cy="5029200"/>
          </a:xfrm>
          <a:prstGeom prst="rect">
            <a:avLst/>
          </a:prstGeom>
        </p:spPr>
      </p:pic>
      <p:sp>
        <p:nvSpPr>
          <p:cNvPr id="6" name="Titre 1">
            <a:extLst>
              <a:ext uri="{FF2B5EF4-FFF2-40B4-BE49-F238E27FC236}">
                <a16:creationId xmlns:a16="http://schemas.microsoft.com/office/drawing/2014/main" id="{C3C14C7F-DC51-EC71-BC90-FA4FBB9FEA16}"/>
              </a:ext>
            </a:extLst>
          </p:cNvPr>
          <p:cNvSpPr txBox="1">
            <a:spLocks/>
          </p:cNvSpPr>
          <p:nvPr/>
        </p:nvSpPr>
        <p:spPr>
          <a:xfrm>
            <a:off x="221815" y="175098"/>
            <a:ext cx="6709185" cy="105118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2800">
                <a:solidFill>
                  <a:schemeClr val="bg1">
                    <a:lumMod val="50000"/>
                  </a:schemeClr>
                </a:solidFill>
              </a:rPr>
              <a:t>Mobile and Wireless Network</a:t>
            </a:r>
            <a:br>
              <a:rPr lang="en-GB" sz="2800"/>
            </a:br>
            <a:r>
              <a:rPr lang="en-GB" sz="3200"/>
              <a:t>ESP32 Project</a:t>
            </a:r>
            <a:endParaRPr lang="en-GB" sz="2800" dirty="0"/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6A5AA0BA-30B4-D03B-654A-2902C60A20F1}"/>
              </a:ext>
            </a:extLst>
          </p:cNvPr>
          <p:cNvSpPr txBox="1"/>
          <p:nvPr/>
        </p:nvSpPr>
        <p:spPr>
          <a:xfrm>
            <a:off x="7528205" y="1026227"/>
            <a:ext cx="1585690" cy="400110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txBody>
          <a:bodyPr wrap="none" rtlCol="0">
            <a:spAutoFit/>
          </a:bodyPr>
          <a:lstStyle/>
          <a:p>
            <a:r>
              <a:rPr lang="en-GB" sz="2000" b="1" dirty="0" err="1">
                <a:solidFill>
                  <a:schemeClr val="bg1"/>
                </a:solidFill>
              </a:rPr>
              <a:t>WebServer</a:t>
            </a:r>
            <a:endParaRPr lang="en-GB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600720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2355</TotalTime>
  <Words>1067</Words>
  <Application>Microsoft Office PowerPoint</Application>
  <PresentationFormat>Grand écran</PresentationFormat>
  <Paragraphs>302</Paragraphs>
  <Slides>16</Slides>
  <Notes>7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16</vt:i4>
      </vt:variant>
    </vt:vector>
  </HeadingPairs>
  <TitlesOfParts>
    <vt:vector size="22" baseType="lpstr">
      <vt:lpstr>Agency FB</vt:lpstr>
      <vt:lpstr>Aptos</vt:lpstr>
      <vt:lpstr>Arial</vt:lpstr>
      <vt:lpstr>Courier New</vt:lpstr>
      <vt:lpstr>Neue Haas Grotesk Text Pro</vt:lpstr>
      <vt:lpstr>VanillaVTI</vt:lpstr>
      <vt:lpstr>Mobile and Wireless Network IoT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Mobile and Wireless Network ESP32 Project</vt:lpstr>
      <vt:lpstr>Présentation PowerPoint</vt:lpstr>
      <vt:lpstr>Mobile and Wireless Network ESP32 Project</vt:lpstr>
      <vt:lpstr>Présentation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ARICO Amaury</dc:creator>
  <cp:lastModifiedBy>ARICO Amaury</cp:lastModifiedBy>
  <cp:revision>59</cp:revision>
  <dcterms:created xsi:type="dcterms:W3CDTF">2025-10-23T13:44:02Z</dcterms:created>
  <dcterms:modified xsi:type="dcterms:W3CDTF">2025-12-15T09:07:06Z</dcterms:modified>
</cp:coreProperties>
</file>